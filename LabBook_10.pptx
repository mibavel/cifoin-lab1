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1"/>
  </p:sldMasterIdLst>
  <p:notesMasterIdLst>
    <p:notesMasterId r:id="rId10"/>
  </p:notesMasterIdLst>
  <p:handoutMasterIdLst>
    <p:handoutMasterId r:id="rId11"/>
  </p:handoutMasterIdLst>
  <p:sldIdLst>
    <p:sldId id="256" r:id="rId2"/>
    <p:sldId id="295" r:id="rId3"/>
    <p:sldId id="290" r:id="rId4"/>
    <p:sldId id="291" r:id="rId5"/>
    <p:sldId id="292" r:id="rId6"/>
    <p:sldId id="297" r:id="rId7"/>
    <p:sldId id="293" r:id="rId8"/>
    <p:sldId id="288" r:id="rId9"/>
  </p:sldIdLst>
  <p:sldSz cx="12192000" cy="6858000"/>
  <p:notesSz cx="12192000" cy="6858000"/>
  <p:defaultTex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5033" autoAdjust="0"/>
  </p:normalViewPr>
  <p:slideViewPr>
    <p:cSldViewPr>
      <p:cViewPr>
        <p:scale>
          <a:sx n="66" d="100"/>
          <a:sy n="66" d="100"/>
        </p:scale>
        <p:origin x="1320" y="413"/>
      </p:cViewPr>
      <p:guideLst>
        <p:guide orient="horz" pos="2880"/>
        <p:guide pos="2160"/>
      </p:guideLst>
    </p:cSldViewPr>
  </p:slideViewPr>
  <p:notesTextViewPr>
    <p:cViewPr>
      <p:scale>
        <a:sx n="100" d="100"/>
        <a:sy n="100" d="100"/>
      </p:scale>
      <p:origin x="0" y="0"/>
    </p:cViewPr>
  </p:notesTextViewPr>
  <p:notesViewPr>
    <p:cSldViewPr>
      <p:cViewPr varScale="1">
        <p:scale>
          <a:sx n="83" d="100"/>
          <a:sy n="83" d="100"/>
        </p:scale>
        <p:origin x="1392" y="62"/>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handoutMaster" Target="handoutMasters/handout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a:extLst>
              <a:ext uri="{FF2B5EF4-FFF2-40B4-BE49-F238E27FC236}">
                <a16:creationId xmlns:a16="http://schemas.microsoft.com/office/drawing/2014/main" id="{ADD96E76-517F-B468-04D8-38EFA44947EB}"/>
              </a:ext>
            </a:extLst>
          </p:cNvPr>
          <p:cNvSpPr>
            <a:spLocks noGrp="1"/>
          </p:cNvSpPr>
          <p:nvPr>
            <p:ph type="hdr" sz="quarter"/>
          </p:nvPr>
        </p:nvSpPr>
        <p:spPr>
          <a:xfrm>
            <a:off x="0" y="0"/>
            <a:ext cx="5283200" cy="344488"/>
          </a:xfrm>
          <a:prstGeom prst="rect">
            <a:avLst/>
          </a:prstGeom>
        </p:spPr>
        <p:txBody>
          <a:bodyPr vert="horz" lIns="91440" tIns="45720" rIns="91440" bIns="45720" rtlCol="0"/>
          <a:lstStyle>
            <a:lvl1pPr algn="l">
              <a:defRPr sz="1200"/>
            </a:lvl1pPr>
          </a:lstStyle>
          <a:p>
            <a:endParaRPr lang="es-ES"/>
          </a:p>
        </p:txBody>
      </p:sp>
      <p:sp>
        <p:nvSpPr>
          <p:cNvPr id="3" name="Marcador de fecha 2">
            <a:extLst>
              <a:ext uri="{FF2B5EF4-FFF2-40B4-BE49-F238E27FC236}">
                <a16:creationId xmlns:a16="http://schemas.microsoft.com/office/drawing/2014/main" id="{8678D0B9-782A-7C16-D731-EEB7F991FA76}"/>
              </a:ext>
            </a:extLst>
          </p:cNvPr>
          <p:cNvSpPr>
            <a:spLocks noGrp="1"/>
          </p:cNvSpPr>
          <p:nvPr>
            <p:ph type="dt" sz="quarter" idx="1"/>
          </p:nvPr>
        </p:nvSpPr>
        <p:spPr>
          <a:xfrm>
            <a:off x="6905625" y="0"/>
            <a:ext cx="5283200" cy="344488"/>
          </a:xfrm>
          <a:prstGeom prst="rect">
            <a:avLst/>
          </a:prstGeom>
        </p:spPr>
        <p:txBody>
          <a:bodyPr vert="horz" lIns="91440" tIns="45720" rIns="91440" bIns="45720" rtlCol="0"/>
          <a:lstStyle>
            <a:lvl1pPr algn="r">
              <a:defRPr sz="1200"/>
            </a:lvl1pPr>
          </a:lstStyle>
          <a:p>
            <a:fld id="{8438F8DC-35B0-48E6-A86E-42F1F08DD00F}" type="datetimeFigureOut">
              <a:rPr lang="es-ES" smtClean="0"/>
              <a:t>15/03/2026</a:t>
            </a:fld>
            <a:endParaRPr lang="es-ES"/>
          </a:p>
        </p:txBody>
      </p:sp>
      <p:sp>
        <p:nvSpPr>
          <p:cNvPr id="4" name="Marcador de pie de página 3">
            <a:extLst>
              <a:ext uri="{FF2B5EF4-FFF2-40B4-BE49-F238E27FC236}">
                <a16:creationId xmlns:a16="http://schemas.microsoft.com/office/drawing/2014/main" id="{2F2E7B1C-60E2-8A48-EEE0-6715FC30A8B7}"/>
              </a:ext>
            </a:extLst>
          </p:cNvPr>
          <p:cNvSpPr>
            <a:spLocks noGrp="1"/>
          </p:cNvSpPr>
          <p:nvPr>
            <p:ph type="ftr" sz="quarter" idx="2"/>
          </p:nvPr>
        </p:nvSpPr>
        <p:spPr>
          <a:xfrm>
            <a:off x="0" y="6513513"/>
            <a:ext cx="5283200" cy="344487"/>
          </a:xfrm>
          <a:prstGeom prst="rect">
            <a:avLst/>
          </a:prstGeom>
        </p:spPr>
        <p:txBody>
          <a:bodyPr vert="horz" lIns="91440" tIns="45720" rIns="91440" bIns="45720" rtlCol="0" anchor="b"/>
          <a:lstStyle>
            <a:lvl1pPr algn="l">
              <a:defRPr sz="1200"/>
            </a:lvl1pPr>
          </a:lstStyle>
          <a:p>
            <a:endParaRPr lang="es-ES"/>
          </a:p>
        </p:txBody>
      </p:sp>
      <p:sp>
        <p:nvSpPr>
          <p:cNvPr id="5" name="Marcador de número de diapositiva 4">
            <a:extLst>
              <a:ext uri="{FF2B5EF4-FFF2-40B4-BE49-F238E27FC236}">
                <a16:creationId xmlns:a16="http://schemas.microsoft.com/office/drawing/2014/main" id="{C428D795-4EA2-62F0-B78A-5F215C828C50}"/>
              </a:ext>
            </a:extLst>
          </p:cNvPr>
          <p:cNvSpPr>
            <a:spLocks noGrp="1"/>
          </p:cNvSpPr>
          <p:nvPr>
            <p:ph type="sldNum" sz="quarter" idx="3"/>
          </p:nvPr>
        </p:nvSpPr>
        <p:spPr>
          <a:xfrm>
            <a:off x="6905625" y="6513513"/>
            <a:ext cx="5283200" cy="344487"/>
          </a:xfrm>
          <a:prstGeom prst="rect">
            <a:avLst/>
          </a:prstGeom>
        </p:spPr>
        <p:txBody>
          <a:bodyPr vert="horz" lIns="91440" tIns="45720" rIns="91440" bIns="45720" rtlCol="0" anchor="b"/>
          <a:lstStyle>
            <a:lvl1pPr algn="r">
              <a:defRPr sz="1200"/>
            </a:lvl1pPr>
          </a:lstStyle>
          <a:p>
            <a:fld id="{4116A549-763A-4A89-A454-A94BAF51395E}" type="slidenum">
              <a:rPr lang="es-ES" smtClean="0"/>
              <a:t>‹Nº›</a:t>
            </a:fld>
            <a:endParaRPr lang="es-ES"/>
          </a:p>
        </p:txBody>
      </p:sp>
    </p:spTree>
    <p:extLst>
      <p:ext uri="{BB962C8B-B14F-4D97-AF65-F5344CB8AC3E}">
        <p14:creationId xmlns:p14="http://schemas.microsoft.com/office/powerpoint/2010/main" val="140347774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5283200" cy="344488"/>
          </a:xfrm>
          <a:prstGeom prst="rect">
            <a:avLst/>
          </a:prstGeom>
        </p:spPr>
        <p:txBody>
          <a:bodyPr vert="horz" lIns="91440" tIns="45720" rIns="91440" bIns="45720" rtlCol="0"/>
          <a:lstStyle>
            <a:lvl1pPr algn="l">
              <a:defRPr sz="1200"/>
            </a:lvl1pPr>
          </a:lstStyle>
          <a:p>
            <a:endParaRPr lang="es-ES"/>
          </a:p>
        </p:txBody>
      </p:sp>
      <p:sp>
        <p:nvSpPr>
          <p:cNvPr id="3" name="Marcador de fecha 2"/>
          <p:cNvSpPr>
            <a:spLocks noGrp="1"/>
          </p:cNvSpPr>
          <p:nvPr>
            <p:ph type="dt" idx="1"/>
          </p:nvPr>
        </p:nvSpPr>
        <p:spPr>
          <a:xfrm>
            <a:off x="6905625" y="0"/>
            <a:ext cx="5283200" cy="344488"/>
          </a:xfrm>
          <a:prstGeom prst="rect">
            <a:avLst/>
          </a:prstGeom>
        </p:spPr>
        <p:txBody>
          <a:bodyPr vert="horz" lIns="91440" tIns="45720" rIns="91440" bIns="45720" rtlCol="0"/>
          <a:lstStyle>
            <a:lvl1pPr algn="r">
              <a:defRPr sz="1200"/>
            </a:lvl1pPr>
          </a:lstStyle>
          <a:p>
            <a:fld id="{FACBDC12-F39B-4B97-8F4D-6734F9D366FF}" type="datetimeFigureOut">
              <a:rPr lang="es-ES" smtClean="0"/>
              <a:t>15/03/2026</a:t>
            </a:fld>
            <a:endParaRPr lang="es-ES"/>
          </a:p>
        </p:txBody>
      </p:sp>
      <p:sp>
        <p:nvSpPr>
          <p:cNvPr id="4" name="Marcador de imagen de diapositiva 3"/>
          <p:cNvSpPr>
            <a:spLocks noGrp="1" noRot="1" noChangeAspect="1"/>
          </p:cNvSpPr>
          <p:nvPr>
            <p:ph type="sldImg" idx="2"/>
          </p:nvPr>
        </p:nvSpPr>
        <p:spPr>
          <a:xfrm>
            <a:off x="4038600" y="857250"/>
            <a:ext cx="4114800" cy="2314575"/>
          </a:xfrm>
          <a:prstGeom prst="rect">
            <a:avLst/>
          </a:prstGeom>
          <a:noFill/>
          <a:ln w="12700">
            <a:solidFill>
              <a:prstClr val="black"/>
            </a:solidFill>
          </a:ln>
        </p:spPr>
        <p:txBody>
          <a:bodyPr vert="horz" lIns="91440" tIns="45720" rIns="91440" bIns="45720" rtlCol="0" anchor="ctr"/>
          <a:lstStyle/>
          <a:p>
            <a:endParaRPr lang="es-ES"/>
          </a:p>
        </p:txBody>
      </p:sp>
      <p:sp>
        <p:nvSpPr>
          <p:cNvPr id="5" name="Marcador de notas 4"/>
          <p:cNvSpPr>
            <a:spLocks noGrp="1"/>
          </p:cNvSpPr>
          <p:nvPr>
            <p:ph type="body" sz="quarter" idx="3"/>
          </p:nvPr>
        </p:nvSpPr>
        <p:spPr>
          <a:xfrm>
            <a:off x="1219200" y="3300413"/>
            <a:ext cx="9753600" cy="2700337"/>
          </a:xfrm>
          <a:prstGeom prst="rect">
            <a:avLst/>
          </a:prstGeom>
        </p:spPr>
        <p:txBody>
          <a:bodyPr vert="horz" lIns="91440" tIns="45720" rIns="91440" bIns="45720"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6" name="Marcador de pie de página 5"/>
          <p:cNvSpPr>
            <a:spLocks noGrp="1"/>
          </p:cNvSpPr>
          <p:nvPr>
            <p:ph type="ftr" sz="quarter" idx="4"/>
          </p:nvPr>
        </p:nvSpPr>
        <p:spPr>
          <a:xfrm>
            <a:off x="0" y="6513513"/>
            <a:ext cx="5283200" cy="344487"/>
          </a:xfrm>
          <a:prstGeom prst="rect">
            <a:avLst/>
          </a:prstGeom>
        </p:spPr>
        <p:txBody>
          <a:bodyPr vert="horz" lIns="91440" tIns="45720" rIns="91440" bIns="45720" rtlCol="0" anchor="b"/>
          <a:lstStyle>
            <a:lvl1pPr algn="l">
              <a:defRPr sz="1200"/>
            </a:lvl1pPr>
          </a:lstStyle>
          <a:p>
            <a:endParaRPr lang="es-ES"/>
          </a:p>
        </p:txBody>
      </p:sp>
      <p:sp>
        <p:nvSpPr>
          <p:cNvPr id="7" name="Marcador de número de diapositiva 6"/>
          <p:cNvSpPr>
            <a:spLocks noGrp="1"/>
          </p:cNvSpPr>
          <p:nvPr>
            <p:ph type="sldNum" sz="quarter" idx="5"/>
          </p:nvPr>
        </p:nvSpPr>
        <p:spPr>
          <a:xfrm>
            <a:off x="6905625" y="6513513"/>
            <a:ext cx="5283200" cy="344487"/>
          </a:xfrm>
          <a:prstGeom prst="rect">
            <a:avLst/>
          </a:prstGeom>
        </p:spPr>
        <p:txBody>
          <a:bodyPr vert="horz" lIns="91440" tIns="45720" rIns="91440" bIns="45720" rtlCol="0" anchor="b"/>
          <a:lstStyle>
            <a:lvl1pPr algn="r">
              <a:defRPr sz="1200"/>
            </a:lvl1pPr>
          </a:lstStyle>
          <a:p>
            <a:fld id="{676223B9-C868-4436-87D9-1A3152E1157A}" type="slidenum">
              <a:rPr lang="es-ES" smtClean="0"/>
              <a:t>‹Nº›</a:t>
            </a:fld>
            <a:endParaRPr lang="es-ES"/>
          </a:p>
        </p:txBody>
      </p:sp>
    </p:spTree>
    <p:extLst>
      <p:ext uri="{BB962C8B-B14F-4D97-AF65-F5344CB8AC3E}">
        <p14:creationId xmlns:p14="http://schemas.microsoft.com/office/powerpoint/2010/main" val="283421117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dirty="0"/>
          </a:p>
        </p:txBody>
      </p:sp>
      <p:sp>
        <p:nvSpPr>
          <p:cNvPr id="4" name="Marcador de número de diapositiva 3"/>
          <p:cNvSpPr>
            <a:spLocks noGrp="1"/>
          </p:cNvSpPr>
          <p:nvPr>
            <p:ph type="sldNum" sz="quarter" idx="5"/>
          </p:nvPr>
        </p:nvSpPr>
        <p:spPr/>
        <p:txBody>
          <a:bodyPr/>
          <a:lstStyle/>
          <a:p>
            <a:fld id="{676223B9-C868-4436-87D9-1A3152E1157A}" type="slidenum">
              <a:rPr lang="es-ES" smtClean="0"/>
              <a:t>3</a:t>
            </a:fld>
            <a:endParaRPr lang="es-ES"/>
          </a:p>
        </p:txBody>
      </p:sp>
    </p:spTree>
    <p:extLst>
      <p:ext uri="{BB962C8B-B14F-4D97-AF65-F5344CB8AC3E}">
        <p14:creationId xmlns:p14="http://schemas.microsoft.com/office/powerpoint/2010/main" val="209253237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3C5711-C157-AA5E-1EA1-9F4C3F40B90E}"/>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FFA117F6-F66D-FFD4-422F-EBD94B31F3F1}"/>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02B512FE-9F6C-4ABD-23FA-CA518B458D1F}"/>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9624E7A5-CBFC-658B-8E88-8AF8084D5BC4}"/>
              </a:ext>
            </a:extLst>
          </p:cNvPr>
          <p:cNvSpPr>
            <a:spLocks noGrp="1"/>
          </p:cNvSpPr>
          <p:nvPr>
            <p:ph type="sldNum" sz="quarter" idx="5"/>
          </p:nvPr>
        </p:nvSpPr>
        <p:spPr/>
        <p:txBody>
          <a:bodyPr/>
          <a:lstStyle/>
          <a:p>
            <a:fld id="{676223B9-C868-4436-87D9-1A3152E1157A}" type="slidenum">
              <a:rPr lang="es-ES" smtClean="0"/>
              <a:t>4</a:t>
            </a:fld>
            <a:endParaRPr lang="es-ES"/>
          </a:p>
        </p:txBody>
      </p:sp>
    </p:spTree>
    <p:extLst>
      <p:ext uri="{BB962C8B-B14F-4D97-AF65-F5344CB8AC3E}">
        <p14:creationId xmlns:p14="http://schemas.microsoft.com/office/powerpoint/2010/main" val="183296143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993BBE-3704-D894-1C10-5488EE611F08}"/>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19BB04E2-F70F-42F7-9964-3D274C49FB9C}"/>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F6664AEC-7D1D-9DDC-3B94-3AE8450C7E5E}"/>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E8F62EEB-2D30-2026-D252-4267AF688251}"/>
              </a:ext>
            </a:extLst>
          </p:cNvPr>
          <p:cNvSpPr>
            <a:spLocks noGrp="1"/>
          </p:cNvSpPr>
          <p:nvPr>
            <p:ph type="sldNum" sz="quarter" idx="5"/>
          </p:nvPr>
        </p:nvSpPr>
        <p:spPr/>
        <p:txBody>
          <a:bodyPr/>
          <a:lstStyle/>
          <a:p>
            <a:fld id="{676223B9-C868-4436-87D9-1A3152E1157A}" type="slidenum">
              <a:rPr lang="es-ES" smtClean="0"/>
              <a:t>5</a:t>
            </a:fld>
            <a:endParaRPr lang="es-ES"/>
          </a:p>
        </p:txBody>
      </p:sp>
    </p:spTree>
    <p:extLst>
      <p:ext uri="{BB962C8B-B14F-4D97-AF65-F5344CB8AC3E}">
        <p14:creationId xmlns:p14="http://schemas.microsoft.com/office/powerpoint/2010/main" val="411607904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69AA65-166B-474B-A6C9-9858D86A9448}"/>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38158223-A8BA-05F6-464C-EC03A9FB8C56}"/>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F6ECB4DF-C329-8F47-9ECE-661B5B2BF9AC}"/>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041B2276-A4E2-DFBF-0088-6997E86C9FE1}"/>
              </a:ext>
            </a:extLst>
          </p:cNvPr>
          <p:cNvSpPr>
            <a:spLocks noGrp="1"/>
          </p:cNvSpPr>
          <p:nvPr>
            <p:ph type="sldNum" sz="quarter" idx="5"/>
          </p:nvPr>
        </p:nvSpPr>
        <p:spPr/>
        <p:txBody>
          <a:bodyPr/>
          <a:lstStyle/>
          <a:p>
            <a:fld id="{676223B9-C868-4436-87D9-1A3152E1157A}" type="slidenum">
              <a:rPr lang="es-ES" smtClean="0"/>
              <a:t>6</a:t>
            </a:fld>
            <a:endParaRPr lang="es-ES"/>
          </a:p>
        </p:txBody>
      </p:sp>
    </p:spTree>
    <p:extLst>
      <p:ext uri="{BB962C8B-B14F-4D97-AF65-F5344CB8AC3E}">
        <p14:creationId xmlns:p14="http://schemas.microsoft.com/office/powerpoint/2010/main" val="236231598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023B86-D15F-9CD8-C5EA-3EAAD8BACCF7}"/>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5C73881A-26A5-ECF9-C6F2-3DEFA77AEFCC}"/>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3B7AFC79-4973-3930-959B-AEF8810CFE6A}"/>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8345D0F3-6273-0338-FCDA-175B73D7C9EB}"/>
              </a:ext>
            </a:extLst>
          </p:cNvPr>
          <p:cNvSpPr>
            <a:spLocks noGrp="1"/>
          </p:cNvSpPr>
          <p:nvPr>
            <p:ph type="sldNum" sz="quarter" idx="5"/>
          </p:nvPr>
        </p:nvSpPr>
        <p:spPr/>
        <p:txBody>
          <a:bodyPr/>
          <a:lstStyle/>
          <a:p>
            <a:fld id="{676223B9-C868-4436-87D9-1A3152E1157A}" type="slidenum">
              <a:rPr lang="es-ES" smtClean="0"/>
              <a:t>7</a:t>
            </a:fld>
            <a:endParaRPr lang="es-ES"/>
          </a:p>
        </p:txBody>
      </p:sp>
    </p:spTree>
    <p:extLst>
      <p:ext uri="{BB962C8B-B14F-4D97-AF65-F5344CB8AC3E}">
        <p14:creationId xmlns:p14="http://schemas.microsoft.com/office/powerpoint/2010/main" val="291738271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 Id="rId4" Type="http://schemas.openxmlformats.org/officeDocument/2006/relationships/image" Target="../media/image4.sv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5.png"/><Relationship Id="rId1" Type="http://schemas.openxmlformats.org/officeDocument/2006/relationships/slideMaster" Target="../slideMasters/slideMaster1.xml"/><Relationship Id="rId4" Type="http://schemas.openxmlformats.org/officeDocument/2006/relationships/image" Target="../media/image4.svg"/></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914400" y="2125980"/>
            <a:ext cx="10363200" cy="1440180"/>
          </a:xfrm>
          <a:prstGeom prst="rect">
            <a:avLst/>
          </a:prstGeom>
        </p:spPr>
        <p:txBody>
          <a:bodyPr wrap="square" lIns="0" tIns="0" rIns="0" bIns="0">
            <a:spAutoFit/>
          </a:bodyPr>
          <a:lstStyle>
            <a:lvl1pPr>
              <a:defRPr/>
            </a:lvl1pPr>
          </a:lstStyle>
          <a:p>
            <a:endParaRPr/>
          </a:p>
        </p:txBody>
      </p:sp>
      <p:sp>
        <p:nvSpPr>
          <p:cNvPr id="3" name="Holder 3"/>
          <p:cNvSpPr>
            <a:spLocks noGrp="1"/>
          </p:cNvSpPr>
          <p:nvPr>
            <p:ph type="subTitle" idx="4"/>
          </p:nvPr>
        </p:nvSpPr>
        <p:spPr>
          <a:xfrm>
            <a:off x="1828800" y="3840480"/>
            <a:ext cx="8534400" cy="1714500"/>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p:txBody>
          <a:bodyPr lIns="0" tIns="0" rIns="0" bIns="0"/>
          <a:lstStyle>
            <a:lvl1pPr>
              <a:defRPr sz="900" b="0" i="0">
                <a:solidFill>
                  <a:srgbClr val="585858"/>
                </a:solidFill>
                <a:latin typeface="Arial"/>
                <a:cs typeface="Arial"/>
              </a:defRPr>
            </a:lvl1pPr>
          </a:lstStyle>
          <a:p>
            <a:pPr marL="12700">
              <a:lnSpc>
                <a:spcPct val="100000"/>
              </a:lnSpc>
              <a:spcBef>
                <a:spcPts val="15"/>
              </a:spcBef>
            </a:pPr>
            <a:r>
              <a:rPr lang="es-ES" spc="-5"/>
              <a:t>LAB 1.0 WAVEGUIDES</a:t>
            </a:r>
            <a:endParaRPr spc="-5" dirty="0"/>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‹Nº›</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a:xfrm>
            <a:off x="590550" y="206752"/>
            <a:ext cx="10991850" cy="307777"/>
          </a:xfrm>
        </p:spPr>
        <p:txBody>
          <a:bodyPr lIns="0" tIns="0" rIns="0" bIns="0"/>
          <a:lstStyle>
            <a:lvl1pPr>
              <a:defRPr sz="2000" b="1" i="0">
                <a:solidFill>
                  <a:schemeClr val="tx1"/>
                </a:solidFill>
                <a:latin typeface="Calibri"/>
                <a:cs typeface="Calibri"/>
              </a:defRPr>
            </a:lvl1pPr>
          </a:lstStyle>
          <a:p>
            <a:endParaRPr dirty="0"/>
          </a:p>
        </p:txBody>
      </p:sp>
      <p:sp>
        <p:nvSpPr>
          <p:cNvPr id="3" name="Holder 3"/>
          <p:cNvSpPr>
            <a:spLocks noGrp="1"/>
          </p:cNvSpPr>
          <p:nvPr>
            <p:ph type="body" idx="1"/>
          </p:nvPr>
        </p:nvSpPr>
        <p:spPr>
          <a:xfrm>
            <a:off x="609600" y="2152910"/>
            <a:ext cx="10972800" cy="3950710"/>
          </a:xfrm>
        </p:spPr>
        <p:txBody>
          <a:bodyPr lIns="0" tIns="0" rIns="0" bIns="0"/>
          <a:lstStyle>
            <a:lvl1pPr>
              <a:defRPr/>
            </a:lvl1pPr>
          </a:lstStyle>
          <a:p>
            <a:endParaRPr dirty="0"/>
          </a:p>
        </p:txBody>
      </p:sp>
      <p:sp>
        <p:nvSpPr>
          <p:cNvPr id="4" name="Holder 4"/>
          <p:cNvSpPr>
            <a:spLocks noGrp="1"/>
          </p:cNvSpPr>
          <p:nvPr>
            <p:ph type="ftr" sz="quarter" idx="5"/>
          </p:nvPr>
        </p:nvSpPr>
        <p:spPr>
          <a:xfrm>
            <a:off x="609600" y="6457057"/>
            <a:ext cx="2743200" cy="184666"/>
          </a:xfrm>
        </p:spPr>
        <p:txBody>
          <a:bodyPr lIns="0" tIns="0" rIns="0" bIns="0" anchor="ctr"/>
          <a:lstStyle>
            <a:lvl1pPr>
              <a:defRPr sz="1200" b="0" i="0">
                <a:solidFill>
                  <a:srgbClr val="585858"/>
                </a:solidFill>
                <a:latin typeface="Arial"/>
                <a:cs typeface="Arial"/>
              </a:defRPr>
            </a:lvl1pPr>
          </a:lstStyle>
          <a:p>
            <a:pPr marL="12700">
              <a:spcBef>
                <a:spcPts val="15"/>
              </a:spcBef>
            </a:pPr>
            <a:r>
              <a:rPr lang="es-ES" spc="-5"/>
              <a:t>LAB 1.0 WAVEGUIDES</a:t>
            </a:r>
            <a:endParaRPr lang="es-ES" spc="-5" dirty="0"/>
          </a:p>
        </p:txBody>
      </p:sp>
      <p:sp>
        <p:nvSpPr>
          <p:cNvPr id="6" name="Holder 6"/>
          <p:cNvSpPr>
            <a:spLocks noGrp="1"/>
          </p:cNvSpPr>
          <p:nvPr>
            <p:ph type="sldNum" sz="quarter" idx="7"/>
          </p:nvPr>
        </p:nvSpPr>
        <p:spPr>
          <a:xfrm>
            <a:off x="9311640" y="6377940"/>
            <a:ext cx="2804160" cy="342900"/>
          </a:xfrm>
        </p:spPr>
        <p:txBody>
          <a:bodyPr lIns="0" tIns="0" rIns="0" bIns="0"/>
          <a:lstStyle>
            <a:lvl1pPr algn="r">
              <a:defRPr>
                <a:solidFill>
                  <a:schemeClr val="tx1">
                    <a:tint val="75000"/>
                  </a:schemeClr>
                </a:solidFill>
              </a:defRPr>
            </a:lvl1pPr>
          </a:lstStyle>
          <a:p>
            <a:fld id="{B6F15528-21DE-4FAA-801E-634DDDAF4B2B}" type="slidenum">
              <a:t>‹Nº›</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1600" b="0" i="0">
                <a:solidFill>
                  <a:schemeClr val="tx1"/>
                </a:solidFill>
                <a:latin typeface="Calibri"/>
                <a:cs typeface="Calibri"/>
              </a:defRPr>
            </a:lvl1pPr>
          </a:lstStyle>
          <a:p>
            <a:endParaRPr/>
          </a:p>
        </p:txBody>
      </p:sp>
      <p:sp>
        <p:nvSpPr>
          <p:cNvPr id="3" name="Holder 3"/>
          <p:cNvSpPr>
            <a:spLocks noGrp="1"/>
          </p:cNvSpPr>
          <p:nvPr>
            <p:ph sz="half" idx="2"/>
          </p:nvPr>
        </p:nvSpPr>
        <p:spPr>
          <a:xfrm>
            <a:off x="609600" y="1577340"/>
            <a:ext cx="530352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6278880" y="1577340"/>
            <a:ext cx="530352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defRPr sz="900" b="0" i="0">
                <a:solidFill>
                  <a:srgbClr val="585858"/>
                </a:solidFill>
                <a:latin typeface="Arial"/>
                <a:cs typeface="Arial"/>
              </a:defRPr>
            </a:lvl1pPr>
          </a:lstStyle>
          <a:p>
            <a:pPr marL="12700">
              <a:lnSpc>
                <a:spcPct val="100000"/>
              </a:lnSpc>
              <a:spcBef>
                <a:spcPts val="15"/>
              </a:spcBef>
            </a:pPr>
            <a:r>
              <a:rPr lang="es-ES" spc="-5"/>
              <a:t>LAB 1.0 WAVEGUIDES</a:t>
            </a:r>
            <a:endParaRPr spc="-5" dirty="0"/>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‹Nº›</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obj" preserve="1">
  <p:cSld name="Title Only">
    <p:bg>
      <p:bgPr>
        <a:solidFill>
          <a:schemeClr val="bg1"/>
        </a:solidFill>
        <a:effectLst/>
      </p:bgPr>
    </p:bg>
    <p:spTree>
      <p:nvGrpSpPr>
        <p:cNvPr id="1" name=""/>
        <p:cNvGrpSpPr/>
        <p:nvPr/>
      </p:nvGrpSpPr>
      <p:grpSpPr>
        <a:xfrm>
          <a:off x="0" y="0"/>
          <a:ext cx="0" cy="0"/>
          <a:chOff x="0" y="0"/>
          <a:chExt cx="0" cy="0"/>
        </a:xfrm>
      </p:grpSpPr>
      <p:sp>
        <p:nvSpPr>
          <p:cNvPr id="16" name="bk object 16"/>
          <p:cNvSpPr/>
          <p:nvPr/>
        </p:nvSpPr>
        <p:spPr>
          <a:xfrm>
            <a:off x="0" y="2636520"/>
            <a:ext cx="3944620" cy="1584960"/>
          </a:xfrm>
          <a:custGeom>
            <a:avLst/>
            <a:gdLst/>
            <a:ahLst/>
            <a:cxnLst/>
            <a:rect l="l" t="t" r="r" b="b"/>
            <a:pathLst>
              <a:path w="3944620" h="1584960">
                <a:moveTo>
                  <a:pt x="0" y="1584959"/>
                </a:moveTo>
                <a:lnTo>
                  <a:pt x="3944112" y="1584959"/>
                </a:lnTo>
                <a:lnTo>
                  <a:pt x="3944112" y="0"/>
                </a:lnTo>
                <a:lnTo>
                  <a:pt x="0" y="0"/>
                </a:lnTo>
                <a:lnTo>
                  <a:pt x="0" y="1584959"/>
                </a:lnTo>
                <a:close/>
              </a:path>
            </a:pathLst>
          </a:custGeom>
          <a:solidFill>
            <a:srgbClr val="000000"/>
          </a:solidFill>
        </p:spPr>
        <p:txBody>
          <a:bodyPr wrap="square" lIns="0" tIns="0" rIns="0" bIns="0" rtlCol="0"/>
          <a:lstStyle/>
          <a:p>
            <a:endParaRPr/>
          </a:p>
        </p:txBody>
      </p:sp>
      <p:sp>
        <p:nvSpPr>
          <p:cNvPr id="17" name="bk object 17"/>
          <p:cNvSpPr/>
          <p:nvPr/>
        </p:nvSpPr>
        <p:spPr>
          <a:xfrm>
            <a:off x="771144" y="2951988"/>
            <a:ext cx="2403348" cy="954024"/>
          </a:xfrm>
          <a:prstGeom prst="rect">
            <a:avLst/>
          </a:prstGeom>
          <a:blipFill>
            <a:blip r:embed="rId2" cstate="print"/>
            <a:stretch>
              <a:fillRect/>
            </a:stretch>
          </a:blipFill>
        </p:spPr>
        <p:txBody>
          <a:bodyPr wrap="square" lIns="0" tIns="0" rIns="0" bIns="0" rtlCol="0"/>
          <a:lstStyle/>
          <a:p>
            <a:endParaRPr/>
          </a:p>
        </p:txBody>
      </p:sp>
      <p:sp>
        <p:nvSpPr>
          <p:cNvPr id="2" name="Holder 2"/>
          <p:cNvSpPr>
            <a:spLocks noGrp="1"/>
          </p:cNvSpPr>
          <p:nvPr>
            <p:ph type="title"/>
          </p:nvPr>
        </p:nvSpPr>
        <p:spPr/>
        <p:txBody>
          <a:bodyPr lIns="0" tIns="0" rIns="0" bIns="0"/>
          <a:lstStyle>
            <a:lvl1pPr>
              <a:defRPr sz="1600" b="0" i="0">
                <a:solidFill>
                  <a:schemeClr val="tx1"/>
                </a:solidFill>
                <a:latin typeface="Calibri"/>
                <a:cs typeface="Calibri"/>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endParaRPr lang="en-US"/>
          </a:p>
        </p:txBody>
      </p:sp>
      <p:sp>
        <p:nvSpPr>
          <p:cNvPr id="5" name="Holder 5"/>
          <p:cNvSpPr>
            <a:spLocks noGrp="1"/>
          </p:cNvSpPr>
          <p:nvPr>
            <p:ph type="sldNum" sz="quarter" idx="7"/>
          </p:nvPr>
        </p:nvSpPr>
        <p:spPr>
          <a:xfrm>
            <a:off x="9296400" y="6377940"/>
            <a:ext cx="2804160" cy="342900"/>
          </a:xfrm>
        </p:spPr>
        <p:txBody>
          <a:bodyPr lIns="0" tIns="0" rIns="0" bIns="0"/>
          <a:lstStyle>
            <a:lvl1pPr algn="r">
              <a:defRPr>
                <a:solidFill>
                  <a:schemeClr val="tx1">
                    <a:tint val="75000"/>
                  </a:schemeClr>
                </a:solidFill>
              </a:defRPr>
            </a:lvl1pPr>
          </a:lstStyle>
          <a:p>
            <a:fld id="{B6F15528-21DE-4FAA-801E-634DDDAF4B2B}" type="slidenum">
              <a:t>‹Nº›</a:t>
            </a:fld>
            <a:endParaRPr/>
          </a:p>
        </p:txBody>
      </p:sp>
      <p:pic>
        <p:nvPicPr>
          <p:cNvPr id="6" name="Gráfico 5">
            <a:extLst>
              <a:ext uri="{FF2B5EF4-FFF2-40B4-BE49-F238E27FC236}">
                <a16:creationId xmlns:a16="http://schemas.microsoft.com/office/drawing/2014/main" id="{F5CB4B75-CC85-5F87-B13B-97FD63FFBC56}"/>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2891213" y="6357666"/>
            <a:ext cx="6409575" cy="363174"/>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obj" preserve="1">
  <p:cSld name="Blank">
    <p:bg>
      <p:bgPr>
        <a:solidFill>
          <a:schemeClr val="bg1"/>
        </a:solidFill>
        <a:effectLst/>
      </p:bgPr>
    </p:bg>
    <p:spTree>
      <p:nvGrpSpPr>
        <p:cNvPr id="1" name=""/>
        <p:cNvGrpSpPr/>
        <p:nvPr/>
      </p:nvGrpSpPr>
      <p:grpSpPr>
        <a:xfrm>
          <a:off x="0" y="0"/>
          <a:ext cx="0" cy="0"/>
          <a:chOff x="0" y="0"/>
          <a:chExt cx="0" cy="0"/>
        </a:xfrm>
      </p:grpSpPr>
      <p:sp>
        <p:nvSpPr>
          <p:cNvPr id="16" name="bk object 16"/>
          <p:cNvSpPr/>
          <p:nvPr/>
        </p:nvSpPr>
        <p:spPr>
          <a:xfrm>
            <a:off x="594327" y="4722313"/>
            <a:ext cx="1521016" cy="1253853"/>
          </a:xfrm>
          <a:prstGeom prst="rect">
            <a:avLst/>
          </a:prstGeom>
          <a:blipFill>
            <a:blip r:embed="rId2" cstate="print"/>
            <a:stretch>
              <a:fillRect/>
            </a:stretch>
          </a:blipFill>
        </p:spPr>
        <p:txBody>
          <a:bodyPr wrap="square" lIns="0" tIns="0" rIns="0" bIns="0" rtlCol="0"/>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endParaRPr lang="en-US"/>
          </a:p>
        </p:txBody>
      </p:sp>
      <p:sp>
        <p:nvSpPr>
          <p:cNvPr id="4" name="Holder 4"/>
          <p:cNvSpPr>
            <a:spLocks noGrp="1"/>
          </p:cNvSpPr>
          <p:nvPr>
            <p:ph type="sldNum" sz="quarter" idx="7"/>
          </p:nvPr>
        </p:nvSpPr>
        <p:spPr>
          <a:xfrm>
            <a:off x="9372600" y="6377940"/>
            <a:ext cx="2804160" cy="342900"/>
          </a:xfrm>
        </p:spPr>
        <p:txBody>
          <a:bodyPr lIns="0" tIns="0" rIns="0" bIns="0"/>
          <a:lstStyle>
            <a:lvl1pPr algn="r">
              <a:defRPr>
                <a:solidFill>
                  <a:schemeClr val="tx1">
                    <a:tint val="75000"/>
                  </a:schemeClr>
                </a:solidFill>
              </a:defRPr>
            </a:lvl1pPr>
          </a:lstStyle>
          <a:p>
            <a:fld id="{B6F15528-21DE-4FAA-801E-634DDDAF4B2B}" type="slidenum">
              <a:t>‹Nº›</a:t>
            </a:fld>
            <a:endParaRPr/>
          </a:p>
        </p:txBody>
      </p:sp>
      <p:pic>
        <p:nvPicPr>
          <p:cNvPr id="5" name="Gráfico 4">
            <a:extLst>
              <a:ext uri="{FF2B5EF4-FFF2-40B4-BE49-F238E27FC236}">
                <a16:creationId xmlns:a16="http://schemas.microsoft.com/office/drawing/2014/main" id="{9F3DE434-B07E-429D-5547-0D42DA9B05A1}"/>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5045006" y="6356057"/>
            <a:ext cx="6409575" cy="363174"/>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bk object 16"/>
          <p:cNvSpPr/>
          <p:nvPr/>
        </p:nvSpPr>
        <p:spPr>
          <a:xfrm>
            <a:off x="891539" y="5283707"/>
            <a:ext cx="2624328" cy="1574289"/>
          </a:xfrm>
          <a:prstGeom prst="rect">
            <a:avLst/>
          </a:prstGeom>
          <a:blipFill>
            <a:blip r:embed="rId7" cstate="print"/>
            <a:stretch>
              <a:fillRect/>
            </a:stretch>
          </a:blipFill>
        </p:spPr>
        <p:txBody>
          <a:bodyPr wrap="square" lIns="0" tIns="0" rIns="0" bIns="0" rtlCol="0"/>
          <a:lstStyle/>
          <a:p>
            <a:endParaRPr/>
          </a:p>
        </p:txBody>
      </p:sp>
      <p:sp>
        <p:nvSpPr>
          <p:cNvPr id="2" name="Holder 2"/>
          <p:cNvSpPr>
            <a:spLocks noGrp="1"/>
          </p:cNvSpPr>
          <p:nvPr>
            <p:ph type="title"/>
          </p:nvPr>
        </p:nvSpPr>
        <p:spPr>
          <a:xfrm>
            <a:off x="3986910" y="1699005"/>
            <a:ext cx="2599054" cy="269239"/>
          </a:xfrm>
          <a:prstGeom prst="rect">
            <a:avLst/>
          </a:prstGeom>
        </p:spPr>
        <p:txBody>
          <a:bodyPr wrap="square" lIns="0" tIns="0" rIns="0" bIns="0">
            <a:spAutoFit/>
          </a:bodyPr>
          <a:lstStyle>
            <a:lvl1pPr>
              <a:defRPr sz="1600" b="0" i="0">
                <a:solidFill>
                  <a:schemeClr val="tx1"/>
                </a:solidFill>
                <a:latin typeface="Calibri"/>
                <a:cs typeface="Calibri"/>
              </a:defRPr>
            </a:lvl1pPr>
          </a:lstStyle>
          <a:p>
            <a:endParaRPr/>
          </a:p>
        </p:txBody>
      </p:sp>
      <p:sp>
        <p:nvSpPr>
          <p:cNvPr id="3" name="Holder 3"/>
          <p:cNvSpPr>
            <a:spLocks noGrp="1"/>
          </p:cNvSpPr>
          <p:nvPr>
            <p:ph type="body" idx="1"/>
          </p:nvPr>
        </p:nvSpPr>
        <p:spPr>
          <a:xfrm>
            <a:off x="609600" y="1577340"/>
            <a:ext cx="1097280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a:xfrm>
            <a:off x="5695950" y="6465068"/>
            <a:ext cx="1210945" cy="153670"/>
          </a:xfrm>
          <a:prstGeom prst="rect">
            <a:avLst/>
          </a:prstGeom>
        </p:spPr>
        <p:txBody>
          <a:bodyPr wrap="square" lIns="0" tIns="0" rIns="0" bIns="0">
            <a:spAutoFit/>
          </a:bodyPr>
          <a:lstStyle>
            <a:lvl1pPr>
              <a:defRPr sz="900" b="0" i="0">
                <a:solidFill>
                  <a:srgbClr val="585858"/>
                </a:solidFill>
                <a:latin typeface="Arial"/>
                <a:cs typeface="Arial"/>
              </a:defRPr>
            </a:lvl1pPr>
          </a:lstStyle>
          <a:p>
            <a:pPr marL="12700">
              <a:lnSpc>
                <a:spcPct val="100000"/>
              </a:lnSpc>
              <a:spcBef>
                <a:spcPts val="15"/>
              </a:spcBef>
            </a:pPr>
            <a:r>
              <a:rPr lang="es-ES" spc="-5"/>
              <a:t>LAB 1.0 WAVEGUIDES</a:t>
            </a:r>
            <a:endParaRPr spc="-5" dirty="0"/>
          </a:p>
        </p:txBody>
      </p:sp>
      <p:sp>
        <p:nvSpPr>
          <p:cNvPr id="5" name="Holder 5"/>
          <p:cNvSpPr>
            <a:spLocks noGrp="1"/>
          </p:cNvSpPr>
          <p:nvPr>
            <p:ph type="dt" sz="half" idx="6"/>
          </p:nvPr>
        </p:nvSpPr>
        <p:spPr>
          <a:xfrm>
            <a:off x="609600" y="6377940"/>
            <a:ext cx="2804160" cy="342900"/>
          </a:xfrm>
          <a:prstGeom prst="rect">
            <a:avLst/>
          </a:prstGeom>
        </p:spPr>
        <p:txBody>
          <a:bodyPr wrap="square" lIns="0" tIns="0" rIns="0" bIns="0">
            <a:spAutoFit/>
          </a:bodyPr>
          <a:lstStyle>
            <a:lvl1pPr algn="l">
              <a:defRPr>
                <a:solidFill>
                  <a:schemeClr val="tx1">
                    <a:tint val="75000"/>
                  </a:schemeClr>
                </a:solidFill>
              </a:defRPr>
            </a:lvl1pPr>
          </a:lstStyle>
          <a:p>
            <a:endParaRPr lang="en-US"/>
          </a:p>
        </p:txBody>
      </p:sp>
      <p:sp>
        <p:nvSpPr>
          <p:cNvPr id="6" name="Holder 6"/>
          <p:cNvSpPr>
            <a:spLocks noGrp="1"/>
          </p:cNvSpPr>
          <p:nvPr>
            <p:ph type="sldNum" sz="quarter" idx="7"/>
          </p:nvPr>
        </p:nvSpPr>
        <p:spPr>
          <a:xfrm>
            <a:off x="9311640" y="6377940"/>
            <a:ext cx="2804160" cy="34290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‹Nº›</a:t>
            </a:fld>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hf hdr="0" dt="0"/>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5.xml"/></Relationships>
</file>

<file path=ppt/slides/_rels/slide2.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2.xml"/><Relationship Id="rId5" Type="http://schemas.openxmlformats.org/officeDocument/2006/relationships/image" Target="../media/image7.png"/><Relationship Id="rId4" Type="http://schemas.openxmlformats.org/officeDocument/2006/relationships/image" Target="../media/image4.svg"/></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4.svg"/></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openxmlformats.org/officeDocument/2006/relationships/image" Target="../media/image10.png"/><Relationship Id="rId4" Type="http://schemas.openxmlformats.org/officeDocument/2006/relationships/image" Target="../media/image4.svg"/></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4.svg"/></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2.xml"/><Relationship Id="rId5" Type="http://schemas.openxmlformats.org/officeDocument/2006/relationships/image" Target="../media/image13.png"/><Relationship Id="rId4" Type="http://schemas.openxmlformats.org/officeDocument/2006/relationships/image" Target="../media/image4.svg"/></Relationships>
</file>

<file path=ppt/slides/_rels/slide8.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2749676" y="4919853"/>
            <a:ext cx="6106795" cy="513715"/>
          </a:xfrm>
          <a:prstGeom prst="rect">
            <a:avLst/>
          </a:prstGeom>
        </p:spPr>
        <p:txBody>
          <a:bodyPr vert="horz" wrap="square" lIns="0" tIns="12700" rIns="0" bIns="0" rtlCol="0">
            <a:spAutoFit/>
          </a:bodyPr>
          <a:lstStyle/>
          <a:p>
            <a:pPr marL="12700">
              <a:lnSpc>
                <a:spcPct val="100000"/>
              </a:lnSpc>
              <a:spcBef>
                <a:spcPts val="100"/>
              </a:spcBef>
            </a:pPr>
            <a:r>
              <a:rPr lang="es-ES" sz="3200" b="1" dirty="0" err="1">
                <a:latin typeface="Lucida Sans"/>
                <a:cs typeface="Lucida Sans"/>
              </a:rPr>
              <a:t>Lab</a:t>
            </a:r>
            <a:r>
              <a:rPr lang="es-ES" sz="3200" b="1" dirty="0">
                <a:latin typeface="Lucida Sans"/>
                <a:cs typeface="Lucida Sans"/>
              </a:rPr>
              <a:t> Book 1.0. </a:t>
            </a:r>
            <a:r>
              <a:rPr lang="es-ES" sz="3200" b="1" dirty="0" err="1">
                <a:latin typeface="Lucida Sans"/>
                <a:cs typeface="Lucida Sans"/>
              </a:rPr>
              <a:t>Waveguides</a:t>
            </a:r>
            <a:endParaRPr sz="3200" dirty="0">
              <a:latin typeface="Lucida Sans"/>
              <a:cs typeface="Lucida Sans"/>
            </a:endParaRPr>
          </a:p>
        </p:txBody>
      </p:sp>
      <p:sp>
        <p:nvSpPr>
          <p:cNvPr id="4" name="object 4"/>
          <p:cNvSpPr txBox="1"/>
          <p:nvPr/>
        </p:nvSpPr>
        <p:spPr>
          <a:xfrm>
            <a:off x="2749676" y="5610250"/>
            <a:ext cx="8223124" cy="289823"/>
          </a:xfrm>
          <a:prstGeom prst="rect">
            <a:avLst/>
          </a:prstGeom>
        </p:spPr>
        <p:txBody>
          <a:bodyPr vert="horz" wrap="square" lIns="0" tIns="12700" rIns="0" bIns="0" rtlCol="0">
            <a:spAutoFit/>
          </a:bodyPr>
          <a:lstStyle/>
          <a:p>
            <a:pPr marL="12700">
              <a:lnSpc>
                <a:spcPct val="100000"/>
              </a:lnSpc>
              <a:spcBef>
                <a:spcPts val="100"/>
              </a:spcBef>
            </a:pPr>
            <a:r>
              <a:rPr lang="es-ES" spc="165" dirty="0" err="1">
                <a:latin typeface="Arial"/>
                <a:cs typeface="Arial"/>
              </a:rPr>
              <a:t>Student</a:t>
            </a:r>
            <a:r>
              <a:rPr lang="es-ES" spc="165" dirty="0">
                <a:latin typeface="Arial"/>
                <a:cs typeface="Arial"/>
              </a:rPr>
              <a:t>: Marco Ibáñez Véliz</a:t>
            </a:r>
            <a:endParaRPr sz="1800" dirty="0">
              <a:latin typeface="Arial"/>
              <a:cs typeface="Arial"/>
            </a:endParaRPr>
          </a:p>
        </p:txBody>
      </p:sp>
      <p:sp>
        <p:nvSpPr>
          <p:cNvPr id="5" name="object 5"/>
          <p:cNvSpPr/>
          <p:nvPr/>
        </p:nvSpPr>
        <p:spPr>
          <a:xfrm>
            <a:off x="0" y="0"/>
            <a:ext cx="12192000" cy="4189476"/>
          </a:xfrm>
          <a:prstGeom prst="rect">
            <a:avLst/>
          </a:prstGeom>
          <a:blipFill>
            <a:blip r:embed="rId2" cstate="print"/>
            <a:stretch>
              <a:fillRect/>
            </a:stretch>
          </a:blipFill>
        </p:spPr>
        <p:txBody>
          <a:bodyPr wrap="square" lIns="0" tIns="0" rIns="0" bIns="0" rtlCol="0"/>
          <a:lstStyle/>
          <a:p>
            <a:endParaRPr/>
          </a:p>
        </p:txBody>
      </p:sp>
      <p:sp>
        <p:nvSpPr>
          <p:cNvPr id="7" name="Marcador de número de diapositiva 6">
            <a:extLst>
              <a:ext uri="{FF2B5EF4-FFF2-40B4-BE49-F238E27FC236}">
                <a16:creationId xmlns:a16="http://schemas.microsoft.com/office/drawing/2014/main" id="{F6F66F51-9238-50FE-85C2-BAC3DA79D767}"/>
              </a:ext>
            </a:extLst>
          </p:cNvPr>
          <p:cNvSpPr>
            <a:spLocks noGrp="1"/>
          </p:cNvSpPr>
          <p:nvPr>
            <p:ph type="sldNum" sz="quarter" idx="7"/>
          </p:nvPr>
        </p:nvSpPr>
        <p:spPr/>
        <p:txBody>
          <a:bodyPr/>
          <a:lstStyle/>
          <a:p>
            <a:fld id="{B6F15528-21DE-4FAA-801E-634DDDAF4B2B}" type="slidenum">
              <a:rPr lang="es-ES" smtClean="0"/>
              <a:t>1</a:t>
            </a:fld>
            <a:endParaRPr lang="es-E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48A4D4-C3C4-085B-A7AD-EA04D83F480F}"/>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1B7433F1-7A0E-D925-6140-7305139D053A}"/>
              </a:ext>
            </a:extLst>
          </p:cNvPr>
          <p:cNvSpPr txBox="1">
            <a:spLocks noGrp="1"/>
          </p:cNvSpPr>
          <p:nvPr>
            <p:ph type="title"/>
          </p:nvPr>
        </p:nvSpPr>
        <p:spPr>
          <a:xfrm>
            <a:off x="685800" y="408883"/>
            <a:ext cx="6153785" cy="705321"/>
          </a:xfrm>
          <a:prstGeom prst="rect">
            <a:avLst/>
          </a:prstGeom>
        </p:spPr>
        <p:txBody>
          <a:bodyPr vert="horz" wrap="square" lIns="0" tIns="12700" rIns="0" bIns="0" rtlCol="0">
            <a:spAutoFit/>
          </a:bodyPr>
          <a:lstStyle/>
          <a:p>
            <a:pPr marL="12700">
              <a:lnSpc>
                <a:spcPct val="100000"/>
              </a:lnSpc>
              <a:spcBef>
                <a:spcPts val="100"/>
              </a:spcBef>
            </a:pPr>
            <a:r>
              <a:rPr lang="es-ES" sz="2500" u="sng" spc="-5" dirty="0" err="1">
                <a:latin typeface="+mj-lt"/>
                <a:cs typeface="Lucida Sans"/>
              </a:rPr>
              <a:t>Instructions</a:t>
            </a:r>
            <a:br>
              <a:rPr lang="es-ES" sz="2400" spc="-5" dirty="0">
                <a:latin typeface="+mj-lt"/>
                <a:cs typeface="Lucida Sans"/>
              </a:rPr>
            </a:br>
            <a:r>
              <a:rPr lang="es-ES" b="0" spc="-5" dirty="0">
                <a:latin typeface="+mj-lt"/>
                <a:cs typeface="Lucida Sans"/>
              </a:rPr>
              <a:t>General</a:t>
            </a:r>
            <a:endParaRPr sz="2400" b="0" dirty="0">
              <a:latin typeface="+mj-lt"/>
              <a:cs typeface="Lucida Sans"/>
            </a:endParaRPr>
          </a:p>
        </p:txBody>
      </p:sp>
      <p:pic>
        <p:nvPicPr>
          <p:cNvPr id="83" name="Gráfico 82">
            <a:extLst>
              <a:ext uri="{FF2B5EF4-FFF2-40B4-BE49-F238E27FC236}">
                <a16:creationId xmlns:a16="http://schemas.microsoft.com/office/drawing/2014/main" id="{E518E73B-CE22-A00C-9C86-634FB762EE69}"/>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1E163A6B-DFE4-C67D-5F3E-A56ACEF2EA4C}"/>
              </a:ext>
            </a:extLst>
          </p:cNvPr>
          <p:cNvSpPr>
            <a:spLocks noGrp="1"/>
          </p:cNvSpPr>
          <p:nvPr>
            <p:ph type="sldNum" sz="quarter" idx="7"/>
          </p:nvPr>
        </p:nvSpPr>
        <p:spPr/>
        <p:txBody>
          <a:bodyPr/>
          <a:lstStyle/>
          <a:p>
            <a:fld id="{B6F15528-21DE-4FAA-801E-634DDDAF4B2B}" type="slidenum">
              <a:rPr lang="es-ES" smtClean="0"/>
              <a:t>2</a:t>
            </a:fld>
            <a:endParaRPr lang="es-ES"/>
          </a:p>
        </p:txBody>
      </p:sp>
      <p:sp>
        <p:nvSpPr>
          <p:cNvPr id="3" name="Marcador de pie de página 2">
            <a:extLst>
              <a:ext uri="{FF2B5EF4-FFF2-40B4-BE49-F238E27FC236}">
                <a16:creationId xmlns:a16="http://schemas.microsoft.com/office/drawing/2014/main" id="{95FC84FF-30D3-FDAB-0A5A-0F07F8EE1161}"/>
              </a:ext>
            </a:extLst>
          </p:cNvPr>
          <p:cNvSpPr>
            <a:spLocks noGrp="1"/>
          </p:cNvSpPr>
          <p:nvPr>
            <p:ph type="ftr" sz="quarter" idx="5"/>
          </p:nvPr>
        </p:nvSpPr>
        <p:spPr/>
        <p:txBody>
          <a:bodyPr/>
          <a:lstStyle/>
          <a:p>
            <a:pPr marL="12700">
              <a:spcBef>
                <a:spcPts val="15"/>
              </a:spcBef>
            </a:pPr>
            <a:r>
              <a:rPr lang="es-ES" spc="-5"/>
              <a:t>LAB 1.0 WAVEGUIDES</a:t>
            </a:r>
            <a:endParaRPr lang="es-ES" spc="-5" dirty="0"/>
          </a:p>
        </p:txBody>
      </p:sp>
      <p:sp>
        <p:nvSpPr>
          <p:cNvPr id="4" name="Marcador de texto 2">
            <a:extLst>
              <a:ext uri="{FF2B5EF4-FFF2-40B4-BE49-F238E27FC236}">
                <a16:creationId xmlns:a16="http://schemas.microsoft.com/office/drawing/2014/main" id="{9F7BC140-B3D8-C3CB-55AD-9064C7CDE9CA}"/>
              </a:ext>
            </a:extLst>
          </p:cNvPr>
          <p:cNvSpPr txBox="1">
            <a:spLocks/>
          </p:cNvSpPr>
          <p:nvPr/>
        </p:nvSpPr>
        <p:spPr>
          <a:xfrm>
            <a:off x="608011" y="1163263"/>
            <a:ext cx="11048999" cy="4958137"/>
          </a:xfrm>
          <a:prstGeom prst="rect">
            <a:avLst/>
          </a:prstGeom>
        </p:spPr>
        <p:txBody>
          <a:bodyPr>
            <a:normAutofit/>
          </a:bodyPr>
          <a:lst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pPr algn="just"/>
            <a:r>
              <a:rPr lang="en-US" sz="2000" b="1" kern="0" dirty="0">
                <a:solidFill>
                  <a:sysClr val="windowText" lastClr="000000"/>
                </a:solidFill>
                <a:sym typeface="Wingdings" pitchFamily="2" charset="2"/>
              </a:rPr>
              <a:t>SCRIPTS</a:t>
            </a:r>
          </a:p>
          <a:p>
            <a:pPr marL="342900" indent="-342900" algn="just">
              <a:buFont typeface="Arial" panose="020B0604020202020204" pitchFamily="34" charset="0"/>
              <a:buChar char="•"/>
            </a:pPr>
            <a:r>
              <a:rPr lang="en-US" kern="0" dirty="0">
                <a:solidFill>
                  <a:sysClr val="windowText" lastClr="000000"/>
                </a:solidFill>
                <a:sym typeface="Wingdings" pitchFamily="2" charset="2"/>
              </a:rPr>
              <a:t>From 	GitHub  </a:t>
            </a:r>
          </a:p>
          <a:p>
            <a:pPr marL="800100" lvl="1" indent="-342900" algn="just">
              <a:buFont typeface="Arial" panose="020B0604020202020204" pitchFamily="34" charset="0"/>
              <a:buChar char="•"/>
            </a:pPr>
            <a:r>
              <a:rPr lang="en-US" kern="0" dirty="0">
                <a:solidFill>
                  <a:sysClr val="windowText" lastClr="000000"/>
                </a:solidFill>
                <a:sym typeface="Wingdings" pitchFamily="2" charset="2"/>
              </a:rPr>
              <a:t>Fork the repo: https://github.com/cccanvas-upv/cifoin-lab1.git</a:t>
            </a:r>
          </a:p>
          <a:p>
            <a:pPr marL="800100" lvl="1" indent="-342900" algn="just">
              <a:buFont typeface="Arial" panose="020B0604020202020204" pitchFamily="34" charset="0"/>
              <a:buChar char="•"/>
            </a:pPr>
            <a:r>
              <a:rPr lang="en-US" kern="0" dirty="0">
                <a:solidFill>
                  <a:sysClr val="windowText" lastClr="000000"/>
                </a:solidFill>
                <a:sym typeface="Wingdings" pitchFamily="2" charset="2"/>
              </a:rPr>
              <a:t>Clone the repo using </a:t>
            </a:r>
            <a:r>
              <a:rPr lang="en-US" kern="0" dirty="0" err="1">
                <a:solidFill>
                  <a:sysClr val="windowText" lastClr="000000"/>
                </a:solidFill>
                <a:sym typeface="Wingdings" pitchFamily="2" charset="2"/>
              </a:rPr>
              <a:t>VSCode</a:t>
            </a:r>
            <a:endParaRPr lang="en-US" kern="0" dirty="0">
              <a:solidFill>
                <a:sysClr val="windowText" lastClr="000000"/>
              </a:solidFill>
              <a:sym typeface="Wingdings" pitchFamily="2" charset="2"/>
            </a:endParaRPr>
          </a:p>
          <a:p>
            <a:pPr marL="342900" indent="-342900" algn="just">
              <a:buFont typeface="Arial" panose="020B0604020202020204" pitchFamily="34" charset="0"/>
              <a:buChar char="•"/>
            </a:pPr>
            <a:r>
              <a:rPr lang="en-US" kern="0" dirty="0">
                <a:solidFill>
                  <a:sysClr val="windowText" lastClr="000000"/>
                </a:solidFill>
              </a:rPr>
              <a:t>Run the </a:t>
            </a:r>
            <a:r>
              <a:rPr lang="en-US" kern="0" dirty="0" err="1">
                <a:solidFill>
                  <a:sysClr val="windowText" lastClr="000000"/>
                </a:solidFill>
              </a:rPr>
              <a:t>Jupyter</a:t>
            </a:r>
            <a:r>
              <a:rPr lang="en-US" kern="0" dirty="0">
                <a:solidFill>
                  <a:sysClr val="windowText" lastClr="000000"/>
                </a:solidFill>
              </a:rPr>
              <a:t> Notebook: </a:t>
            </a:r>
          </a:p>
          <a:p>
            <a:pPr marL="800100" lvl="1" indent="-342900" algn="just">
              <a:buFont typeface="Arial" panose="020B0604020202020204" pitchFamily="34" charset="0"/>
              <a:buChar char="•"/>
            </a:pPr>
            <a:r>
              <a:rPr lang="en-US" kern="0" dirty="0" err="1">
                <a:solidFill>
                  <a:sysClr val="windowText" lastClr="000000"/>
                </a:solidFill>
              </a:rPr>
              <a:t>WAVEGUIDES_Student.ipynb</a:t>
            </a:r>
            <a:r>
              <a:rPr lang="en-US" kern="0" dirty="0">
                <a:solidFill>
                  <a:sysClr val="windowText" lastClr="000000"/>
                </a:solidFill>
              </a:rPr>
              <a:t> </a:t>
            </a:r>
          </a:p>
          <a:p>
            <a:pPr algn="just"/>
            <a:endParaRPr lang="en-US" sz="2000" b="1" i="1" u="sng" dirty="0"/>
          </a:p>
          <a:p>
            <a:pPr algn="just"/>
            <a:endParaRPr lang="en-US" sz="2000" kern="0" dirty="0">
              <a:solidFill>
                <a:sysClr val="windowText" lastClr="000000"/>
              </a:solidFill>
            </a:endParaRPr>
          </a:p>
        </p:txBody>
      </p:sp>
      <p:sp>
        <p:nvSpPr>
          <p:cNvPr id="96" name="object 7">
            <a:extLst>
              <a:ext uri="{FF2B5EF4-FFF2-40B4-BE49-F238E27FC236}">
                <a16:creationId xmlns:a16="http://schemas.microsoft.com/office/drawing/2014/main" id="{BB459788-0671-D4BA-B6DB-A3544D24EA92}"/>
              </a:ext>
            </a:extLst>
          </p:cNvPr>
          <p:cNvSpPr/>
          <p:nvPr/>
        </p:nvSpPr>
        <p:spPr>
          <a:xfrm>
            <a:off x="902765" y="3422925"/>
            <a:ext cx="3929379" cy="1902460"/>
          </a:xfrm>
          <a:custGeom>
            <a:avLst/>
            <a:gdLst/>
            <a:ahLst/>
            <a:cxnLst/>
            <a:rect l="l" t="t" r="r" b="b"/>
            <a:pathLst>
              <a:path w="3929379" h="1902460">
                <a:moveTo>
                  <a:pt x="0" y="1901952"/>
                </a:moveTo>
                <a:lnTo>
                  <a:pt x="3928872" y="1901952"/>
                </a:lnTo>
                <a:lnTo>
                  <a:pt x="3928872" y="0"/>
                </a:lnTo>
                <a:lnTo>
                  <a:pt x="0" y="0"/>
                </a:lnTo>
                <a:lnTo>
                  <a:pt x="0" y="1901952"/>
                </a:lnTo>
                <a:close/>
              </a:path>
            </a:pathLst>
          </a:custGeom>
          <a:solidFill>
            <a:srgbClr val="F1F1F1"/>
          </a:solidFill>
        </p:spPr>
        <p:txBody>
          <a:bodyPr wrap="square" lIns="0" tIns="0" rIns="0" bIns="0" rtlCol="0"/>
          <a:lstStyle/>
          <a:p>
            <a:endParaRPr/>
          </a:p>
        </p:txBody>
      </p:sp>
      <p:sp>
        <p:nvSpPr>
          <p:cNvPr id="97" name="object 62">
            <a:extLst>
              <a:ext uri="{FF2B5EF4-FFF2-40B4-BE49-F238E27FC236}">
                <a16:creationId xmlns:a16="http://schemas.microsoft.com/office/drawing/2014/main" id="{13E0425E-CEDF-CBC4-B34B-0CC3951920EA}"/>
              </a:ext>
            </a:extLst>
          </p:cNvPr>
          <p:cNvSpPr/>
          <p:nvPr/>
        </p:nvSpPr>
        <p:spPr>
          <a:xfrm>
            <a:off x="1747061" y="3983757"/>
            <a:ext cx="76200" cy="986155"/>
          </a:xfrm>
          <a:custGeom>
            <a:avLst/>
            <a:gdLst/>
            <a:ahLst/>
            <a:cxnLst/>
            <a:rect l="l" t="t" r="r" b="b"/>
            <a:pathLst>
              <a:path w="76200" h="986155">
                <a:moveTo>
                  <a:pt x="31750" y="909827"/>
                </a:moveTo>
                <a:lnTo>
                  <a:pt x="0" y="909827"/>
                </a:lnTo>
                <a:lnTo>
                  <a:pt x="38100" y="986027"/>
                </a:lnTo>
                <a:lnTo>
                  <a:pt x="69850" y="922527"/>
                </a:lnTo>
                <a:lnTo>
                  <a:pt x="31750" y="922527"/>
                </a:lnTo>
                <a:lnTo>
                  <a:pt x="31750" y="909827"/>
                </a:lnTo>
                <a:close/>
              </a:path>
              <a:path w="76200" h="986155">
                <a:moveTo>
                  <a:pt x="44450" y="63500"/>
                </a:moveTo>
                <a:lnTo>
                  <a:pt x="31750" y="63500"/>
                </a:lnTo>
                <a:lnTo>
                  <a:pt x="31750" y="922527"/>
                </a:lnTo>
                <a:lnTo>
                  <a:pt x="44450" y="922527"/>
                </a:lnTo>
                <a:lnTo>
                  <a:pt x="44450" y="63500"/>
                </a:lnTo>
                <a:close/>
              </a:path>
              <a:path w="76200" h="986155">
                <a:moveTo>
                  <a:pt x="76200" y="909827"/>
                </a:moveTo>
                <a:lnTo>
                  <a:pt x="44450" y="909827"/>
                </a:lnTo>
                <a:lnTo>
                  <a:pt x="44450" y="922527"/>
                </a:lnTo>
                <a:lnTo>
                  <a:pt x="69850" y="922527"/>
                </a:lnTo>
                <a:lnTo>
                  <a:pt x="76200" y="909827"/>
                </a:lnTo>
                <a:close/>
              </a:path>
              <a:path w="76200" h="986155">
                <a:moveTo>
                  <a:pt x="38100" y="0"/>
                </a:moveTo>
                <a:lnTo>
                  <a:pt x="0" y="76200"/>
                </a:lnTo>
                <a:lnTo>
                  <a:pt x="31750" y="76200"/>
                </a:lnTo>
                <a:lnTo>
                  <a:pt x="31750" y="63500"/>
                </a:lnTo>
                <a:lnTo>
                  <a:pt x="69850" y="63500"/>
                </a:lnTo>
                <a:lnTo>
                  <a:pt x="38100" y="0"/>
                </a:lnTo>
                <a:close/>
              </a:path>
              <a:path w="76200" h="986155">
                <a:moveTo>
                  <a:pt x="69850" y="63500"/>
                </a:moveTo>
                <a:lnTo>
                  <a:pt x="44450" y="63500"/>
                </a:lnTo>
                <a:lnTo>
                  <a:pt x="44450" y="76200"/>
                </a:lnTo>
                <a:lnTo>
                  <a:pt x="76200" y="76200"/>
                </a:lnTo>
                <a:lnTo>
                  <a:pt x="69850" y="63500"/>
                </a:lnTo>
                <a:close/>
              </a:path>
            </a:pathLst>
          </a:custGeom>
          <a:solidFill>
            <a:srgbClr val="000000"/>
          </a:solidFill>
        </p:spPr>
        <p:txBody>
          <a:bodyPr wrap="square" lIns="0" tIns="0" rIns="0" bIns="0" rtlCol="0"/>
          <a:lstStyle/>
          <a:p>
            <a:endParaRPr/>
          </a:p>
        </p:txBody>
      </p:sp>
      <p:sp>
        <p:nvSpPr>
          <p:cNvPr id="98" name="object 63">
            <a:extLst>
              <a:ext uri="{FF2B5EF4-FFF2-40B4-BE49-F238E27FC236}">
                <a16:creationId xmlns:a16="http://schemas.microsoft.com/office/drawing/2014/main" id="{FDE45797-C0E3-ACE0-F66B-057BDEDB9070}"/>
              </a:ext>
            </a:extLst>
          </p:cNvPr>
          <p:cNvSpPr txBox="1"/>
          <p:nvPr/>
        </p:nvSpPr>
        <p:spPr>
          <a:xfrm>
            <a:off x="1091131" y="4210910"/>
            <a:ext cx="577850" cy="454025"/>
          </a:xfrm>
          <a:prstGeom prst="rect">
            <a:avLst/>
          </a:prstGeom>
        </p:spPr>
        <p:txBody>
          <a:bodyPr vert="horz" wrap="square" lIns="0" tIns="13335" rIns="0" bIns="0" rtlCol="0">
            <a:spAutoFit/>
          </a:bodyPr>
          <a:lstStyle/>
          <a:p>
            <a:pPr marR="3175" algn="ctr">
              <a:lnSpc>
                <a:spcPct val="100000"/>
              </a:lnSpc>
              <a:spcBef>
                <a:spcPts val="105"/>
              </a:spcBef>
            </a:pPr>
            <a:r>
              <a:rPr sz="1400" dirty="0">
                <a:latin typeface="Calibri"/>
                <a:cs typeface="Calibri"/>
              </a:rPr>
              <a:t>h</a:t>
            </a:r>
            <a:endParaRPr sz="1400">
              <a:latin typeface="Calibri"/>
              <a:cs typeface="Calibri"/>
            </a:endParaRPr>
          </a:p>
          <a:p>
            <a:pPr marR="5080" algn="ctr">
              <a:lnSpc>
                <a:spcPct val="100000"/>
              </a:lnSpc>
              <a:spcBef>
                <a:spcPts val="5"/>
              </a:spcBef>
            </a:pPr>
            <a:r>
              <a:rPr sz="1400" spc="-10" dirty="0">
                <a:latin typeface="Calibri"/>
                <a:cs typeface="Calibri"/>
              </a:rPr>
              <a:t>(h</a:t>
            </a:r>
            <a:r>
              <a:rPr sz="1400" dirty="0">
                <a:latin typeface="Calibri"/>
                <a:cs typeface="Calibri"/>
              </a:rPr>
              <a:t>eig</a:t>
            </a:r>
            <a:r>
              <a:rPr sz="1400" spc="-25" dirty="0">
                <a:latin typeface="Calibri"/>
                <a:cs typeface="Calibri"/>
              </a:rPr>
              <a:t>h</a:t>
            </a:r>
            <a:r>
              <a:rPr sz="1400" spc="-5" dirty="0">
                <a:latin typeface="Calibri"/>
                <a:cs typeface="Calibri"/>
              </a:rPr>
              <a:t>t</a:t>
            </a:r>
            <a:r>
              <a:rPr sz="1400" dirty="0">
                <a:latin typeface="Calibri"/>
                <a:cs typeface="Calibri"/>
              </a:rPr>
              <a:t>)</a:t>
            </a:r>
            <a:endParaRPr sz="1400">
              <a:latin typeface="Calibri"/>
              <a:cs typeface="Calibri"/>
            </a:endParaRPr>
          </a:p>
        </p:txBody>
      </p:sp>
      <p:sp>
        <p:nvSpPr>
          <p:cNvPr id="99" name="object 64">
            <a:extLst>
              <a:ext uri="{FF2B5EF4-FFF2-40B4-BE49-F238E27FC236}">
                <a16:creationId xmlns:a16="http://schemas.microsoft.com/office/drawing/2014/main" id="{ABAAA5DD-56CA-BF94-2180-F0866658B6B3}"/>
              </a:ext>
            </a:extLst>
          </p:cNvPr>
          <p:cNvSpPr/>
          <p:nvPr/>
        </p:nvSpPr>
        <p:spPr>
          <a:xfrm>
            <a:off x="1984805" y="3773445"/>
            <a:ext cx="1758314" cy="76200"/>
          </a:xfrm>
          <a:custGeom>
            <a:avLst/>
            <a:gdLst/>
            <a:ahLst/>
            <a:cxnLst/>
            <a:rect l="l" t="t" r="r" b="b"/>
            <a:pathLst>
              <a:path w="1758314" h="76200">
                <a:moveTo>
                  <a:pt x="76200" y="0"/>
                </a:moveTo>
                <a:lnTo>
                  <a:pt x="0" y="38100"/>
                </a:lnTo>
                <a:lnTo>
                  <a:pt x="76200" y="76200"/>
                </a:lnTo>
                <a:lnTo>
                  <a:pt x="76200" y="44450"/>
                </a:lnTo>
                <a:lnTo>
                  <a:pt x="63500" y="44450"/>
                </a:lnTo>
                <a:lnTo>
                  <a:pt x="63500" y="31750"/>
                </a:lnTo>
                <a:lnTo>
                  <a:pt x="76200" y="31750"/>
                </a:lnTo>
                <a:lnTo>
                  <a:pt x="76200" y="0"/>
                </a:lnTo>
                <a:close/>
              </a:path>
              <a:path w="1758314" h="76200">
                <a:moveTo>
                  <a:pt x="1682114" y="0"/>
                </a:moveTo>
                <a:lnTo>
                  <a:pt x="1682114" y="76200"/>
                </a:lnTo>
                <a:lnTo>
                  <a:pt x="1745614" y="44450"/>
                </a:lnTo>
                <a:lnTo>
                  <a:pt x="1694814" y="44450"/>
                </a:lnTo>
                <a:lnTo>
                  <a:pt x="1694814" y="31750"/>
                </a:lnTo>
                <a:lnTo>
                  <a:pt x="1745614" y="31750"/>
                </a:lnTo>
                <a:lnTo>
                  <a:pt x="1682114" y="0"/>
                </a:lnTo>
                <a:close/>
              </a:path>
              <a:path w="1758314" h="76200">
                <a:moveTo>
                  <a:pt x="76200" y="31750"/>
                </a:moveTo>
                <a:lnTo>
                  <a:pt x="63500" y="31750"/>
                </a:lnTo>
                <a:lnTo>
                  <a:pt x="63500" y="44450"/>
                </a:lnTo>
                <a:lnTo>
                  <a:pt x="76200" y="44450"/>
                </a:lnTo>
                <a:lnTo>
                  <a:pt x="76200" y="31750"/>
                </a:lnTo>
                <a:close/>
              </a:path>
              <a:path w="1758314" h="76200">
                <a:moveTo>
                  <a:pt x="1682114" y="31750"/>
                </a:moveTo>
                <a:lnTo>
                  <a:pt x="76200" y="31750"/>
                </a:lnTo>
                <a:lnTo>
                  <a:pt x="76200" y="44450"/>
                </a:lnTo>
                <a:lnTo>
                  <a:pt x="1682114" y="44450"/>
                </a:lnTo>
                <a:lnTo>
                  <a:pt x="1682114" y="31750"/>
                </a:lnTo>
                <a:close/>
              </a:path>
              <a:path w="1758314" h="76200">
                <a:moveTo>
                  <a:pt x="1745614" y="31750"/>
                </a:moveTo>
                <a:lnTo>
                  <a:pt x="1694814" y="31750"/>
                </a:lnTo>
                <a:lnTo>
                  <a:pt x="1694814" y="44450"/>
                </a:lnTo>
                <a:lnTo>
                  <a:pt x="1745614" y="44450"/>
                </a:lnTo>
                <a:lnTo>
                  <a:pt x="1758314" y="38100"/>
                </a:lnTo>
                <a:lnTo>
                  <a:pt x="1745614" y="31750"/>
                </a:lnTo>
                <a:close/>
              </a:path>
            </a:pathLst>
          </a:custGeom>
          <a:solidFill>
            <a:srgbClr val="000000"/>
          </a:solidFill>
        </p:spPr>
        <p:txBody>
          <a:bodyPr wrap="square" lIns="0" tIns="0" rIns="0" bIns="0" rtlCol="0"/>
          <a:lstStyle/>
          <a:p>
            <a:endParaRPr/>
          </a:p>
        </p:txBody>
      </p:sp>
      <p:sp>
        <p:nvSpPr>
          <p:cNvPr id="100" name="object 65">
            <a:extLst>
              <a:ext uri="{FF2B5EF4-FFF2-40B4-BE49-F238E27FC236}">
                <a16:creationId xmlns:a16="http://schemas.microsoft.com/office/drawing/2014/main" id="{A1EF013C-5123-D9A7-DC76-FEFD731E96E2}"/>
              </a:ext>
            </a:extLst>
          </p:cNvPr>
          <p:cNvSpPr txBox="1"/>
          <p:nvPr/>
        </p:nvSpPr>
        <p:spPr>
          <a:xfrm>
            <a:off x="2504743" y="3532730"/>
            <a:ext cx="733425" cy="240029"/>
          </a:xfrm>
          <a:prstGeom prst="rect">
            <a:avLst/>
          </a:prstGeom>
        </p:spPr>
        <p:txBody>
          <a:bodyPr vert="horz" wrap="square" lIns="0" tIns="13335" rIns="0" bIns="0" rtlCol="0">
            <a:spAutoFit/>
          </a:bodyPr>
          <a:lstStyle/>
          <a:p>
            <a:pPr>
              <a:lnSpc>
                <a:spcPct val="100000"/>
              </a:lnSpc>
              <a:spcBef>
                <a:spcPts val="105"/>
              </a:spcBef>
            </a:pPr>
            <a:r>
              <a:rPr sz="1400" spc="5" dirty="0">
                <a:latin typeface="Calibri"/>
                <a:cs typeface="Calibri"/>
              </a:rPr>
              <a:t>W</a:t>
            </a:r>
            <a:r>
              <a:rPr sz="1400" spc="-65" dirty="0">
                <a:latin typeface="Calibri"/>
                <a:cs typeface="Calibri"/>
              </a:rPr>
              <a:t> </a:t>
            </a:r>
            <a:r>
              <a:rPr sz="1400" spc="-5" dirty="0">
                <a:latin typeface="Calibri"/>
                <a:cs typeface="Calibri"/>
              </a:rPr>
              <a:t>(width)</a:t>
            </a:r>
            <a:endParaRPr sz="1400" dirty="0">
              <a:latin typeface="Calibri"/>
              <a:cs typeface="Calibri"/>
            </a:endParaRPr>
          </a:p>
        </p:txBody>
      </p:sp>
      <p:sp>
        <p:nvSpPr>
          <p:cNvPr id="101" name="object 73">
            <a:extLst>
              <a:ext uri="{FF2B5EF4-FFF2-40B4-BE49-F238E27FC236}">
                <a16:creationId xmlns:a16="http://schemas.microsoft.com/office/drawing/2014/main" id="{4C5C0871-D9B5-E642-7661-FFBCAD75720B}"/>
              </a:ext>
            </a:extLst>
          </p:cNvPr>
          <p:cNvSpPr txBox="1"/>
          <p:nvPr/>
        </p:nvSpPr>
        <p:spPr>
          <a:xfrm>
            <a:off x="1984805" y="3983757"/>
            <a:ext cx="1758950" cy="986155"/>
          </a:xfrm>
          <a:prstGeom prst="rect">
            <a:avLst/>
          </a:prstGeom>
          <a:solidFill>
            <a:srgbClr val="CCB657"/>
          </a:solidFill>
        </p:spPr>
        <p:txBody>
          <a:bodyPr vert="horz" wrap="square" lIns="0" tIns="2540" rIns="0" bIns="0" rtlCol="0">
            <a:spAutoFit/>
          </a:bodyPr>
          <a:lstStyle/>
          <a:p>
            <a:pPr>
              <a:lnSpc>
                <a:spcPct val="100000"/>
              </a:lnSpc>
              <a:spcBef>
                <a:spcPts val="20"/>
              </a:spcBef>
            </a:pPr>
            <a:endParaRPr sz="2350" dirty="0">
              <a:latin typeface="Times New Roman"/>
              <a:cs typeface="Times New Roman"/>
            </a:endParaRPr>
          </a:p>
          <a:p>
            <a:pPr marL="18415" algn="ctr">
              <a:lnSpc>
                <a:spcPct val="100000"/>
              </a:lnSpc>
            </a:pPr>
            <a:r>
              <a:rPr sz="1600" b="1" spc="-10" dirty="0">
                <a:latin typeface="Calibri"/>
                <a:cs typeface="Calibri"/>
              </a:rPr>
              <a:t>Core</a:t>
            </a:r>
            <a:endParaRPr sz="1600" dirty="0">
              <a:latin typeface="Calibri"/>
              <a:cs typeface="Calibri"/>
            </a:endParaRPr>
          </a:p>
        </p:txBody>
      </p:sp>
      <p:sp>
        <p:nvSpPr>
          <p:cNvPr id="102" name="object 74">
            <a:extLst>
              <a:ext uri="{FF2B5EF4-FFF2-40B4-BE49-F238E27FC236}">
                <a16:creationId xmlns:a16="http://schemas.microsoft.com/office/drawing/2014/main" id="{10CC4DBA-05F4-4CDC-BA0E-6200AF622CA9}"/>
              </a:ext>
            </a:extLst>
          </p:cNvPr>
          <p:cNvSpPr txBox="1"/>
          <p:nvPr/>
        </p:nvSpPr>
        <p:spPr>
          <a:xfrm>
            <a:off x="3983988" y="4338253"/>
            <a:ext cx="741045" cy="269240"/>
          </a:xfrm>
          <a:prstGeom prst="rect">
            <a:avLst/>
          </a:prstGeom>
        </p:spPr>
        <p:txBody>
          <a:bodyPr vert="horz" wrap="square" lIns="0" tIns="12065" rIns="0" bIns="0" rtlCol="0">
            <a:spAutoFit/>
          </a:bodyPr>
          <a:lstStyle/>
          <a:p>
            <a:pPr>
              <a:lnSpc>
                <a:spcPct val="100000"/>
              </a:lnSpc>
              <a:spcBef>
                <a:spcPts val="95"/>
              </a:spcBef>
            </a:pPr>
            <a:r>
              <a:rPr sz="1600" b="1" spc="-10" dirty="0">
                <a:latin typeface="Calibri"/>
                <a:cs typeface="Calibri"/>
              </a:rPr>
              <a:t>Cladding</a:t>
            </a:r>
            <a:endParaRPr sz="1600" dirty="0">
              <a:latin typeface="Calibri"/>
              <a:cs typeface="Calibri"/>
            </a:endParaRPr>
          </a:p>
        </p:txBody>
      </p:sp>
      <p:sp>
        <p:nvSpPr>
          <p:cNvPr id="111" name="object 7">
            <a:extLst>
              <a:ext uri="{FF2B5EF4-FFF2-40B4-BE49-F238E27FC236}">
                <a16:creationId xmlns:a16="http://schemas.microsoft.com/office/drawing/2014/main" id="{06801468-6F27-A16A-64E3-D7AD4B6B6B96}"/>
              </a:ext>
            </a:extLst>
          </p:cNvPr>
          <p:cNvSpPr/>
          <p:nvPr/>
        </p:nvSpPr>
        <p:spPr>
          <a:xfrm>
            <a:off x="7391400" y="3422925"/>
            <a:ext cx="3929379" cy="1902460"/>
          </a:xfrm>
          <a:custGeom>
            <a:avLst/>
            <a:gdLst/>
            <a:ahLst/>
            <a:cxnLst/>
            <a:rect l="l" t="t" r="r" b="b"/>
            <a:pathLst>
              <a:path w="3929379" h="1902460">
                <a:moveTo>
                  <a:pt x="0" y="1901952"/>
                </a:moveTo>
                <a:lnTo>
                  <a:pt x="3928872" y="1901952"/>
                </a:lnTo>
                <a:lnTo>
                  <a:pt x="3928872" y="0"/>
                </a:lnTo>
                <a:lnTo>
                  <a:pt x="0" y="0"/>
                </a:lnTo>
                <a:lnTo>
                  <a:pt x="0" y="1901952"/>
                </a:lnTo>
                <a:close/>
              </a:path>
            </a:pathLst>
          </a:custGeom>
          <a:solidFill>
            <a:srgbClr val="F1F1F1"/>
          </a:solidFill>
        </p:spPr>
        <p:txBody>
          <a:bodyPr wrap="square" lIns="0" tIns="0" rIns="0" bIns="0" rtlCol="0"/>
          <a:lstStyle/>
          <a:p>
            <a:endParaRPr/>
          </a:p>
        </p:txBody>
      </p:sp>
      <p:sp>
        <p:nvSpPr>
          <p:cNvPr id="114" name="object 64">
            <a:extLst>
              <a:ext uri="{FF2B5EF4-FFF2-40B4-BE49-F238E27FC236}">
                <a16:creationId xmlns:a16="http://schemas.microsoft.com/office/drawing/2014/main" id="{D9E5D738-CA47-1898-E0D8-DFBC514F5A50}"/>
              </a:ext>
            </a:extLst>
          </p:cNvPr>
          <p:cNvSpPr/>
          <p:nvPr/>
        </p:nvSpPr>
        <p:spPr>
          <a:xfrm>
            <a:off x="8473440" y="3773445"/>
            <a:ext cx="1758314" cy="76200"/>
          </a:xfrm>
          <a:custGeom>
            <a:avLst/>
            <a:gdLst/>
            <a:ahLst/>
            <a:cxnLst/>
            <a:rect l="l" t="t" r="r" b="b"/>
            <a:pathLst>
              <a:path w="1758314" h="76200">
                <a:moveTo>
                  <a:pt x="76200" y="0"/>
                </a:moveTo>
                <a:lnTo>
                  <a:pt x="0" y="38100"/>
                </a:lnTo>
                <a:lnTo>
                  <a:pt x="76200" y="76200"/>
                </a:lnTo>
                <a:lnTo>
                  <a:pt x="76200" y="44450"/>
                </a:lnTo>
                <a:lnTo>
                  <a:pt x="63500" y="44450"/>
                </a:lnTo>
                <a:lnTo>
                  <a:pt x="63500" y="31750"/>
                </a:lnTo>
                <a:lnTo>
                  <a:pt x="76200" y="31750"/>
                </a:lnTo>
                <a:lnTo>
                  <a:pt x="76200" y="0"/>
                </a:lnTo>
                <a:close/>
              </a:path>
              <a:path w="1758314" h="76200">
                <a:moveTo>
                  <a:pt x="1682114" y="0"/>
                </a:moveTo>
                <a:lnTo>
                  <a:pt x="1682114" y="76200"/>
                </a:lnTo>
                <a:lnTo>
                  <a:pt x="1745614" y="44450"/>
                </a:lnTo>
                <a:lnTo>
                  <a:pt x="1694814" y="44450"/>
                </a:lnTo>
                <a:lnTo>
                  <a:pt x="1694814" y="31750"/>
                </a:lnTo>
                <a:lnTo>
                  <a:pt x="1745614" y="31750"/>
                </a:lnTo>
                <a:lnTo>
                  <a:pt x="1682114" y="0"/>
                </a:lnTo>
                <a:close/>
              </a:path>
              <a:path w="1758314" h="76200">
                <a:moveTo>
                  <a:pt x="76200" y="31750"/>
                </a:moveTo>
                <a:lnTo>
                  <a:pt x="63500" y="31750"/>
                </a:lnTo>
                <a:lnTo>
                  <a:pt x="63500" y="44450"/>
                </a:lnTo>
                <a:lnTo>
                  <a:pt x="76200" y="44450"/>
                </a:lnTo>
                <a:lnTo>
                  <a:pt x="76200" y="31750"/>
                </a:lnTo>
                <a:close/>
              </a:path>
              <a:path w="1758314" h="76200">
                <a:moveTo>
                  <a:pt x="1682114" y="31750"/>
                </a:moveTo>
                <a:lnTo>
                  <a:pt x="76200" y="31750"/>
                </a:lnTo>
                <a:lnTo>
                  <a:pt x="76200" y="44450"/>
                </a:lnTo>
                <a:lnTo>
                  <a:pt x="1682114" y="44450"/>
                </a:lnTo>
                <a:lnTo>
                  <a:pt x="1682114" y="31750"/>
                </a:lnTo>
                <a:close/>
              </a:path>
              <a:path w="1758314" h="76200">
                <a:moveTo>
                  <a:pt x="1745614" y="31750"/>
                </a:moveTo>
                <a:lnTo>
                  <a:pt x="1694814" y="31750"/>
                </a:lnTo>
                <a:lnTo>
                  <a:pt x="1694814" y="44450"/>
                </a:lnTo>
                <a:lnTo>
                  <a:pt x="1745614" y="44450"/>
                </a:lnTo>
                <a:lnTo>
                  <a:pt x="1758314" y="38100"/>
                </a:lnTo>
                <a:lnTo>
                  <a:pt x="1745614" y="31750"/>
                </a:lnTo>
                <a:close/>
              </a:path>
            </a:pathLst>
          </a:custGeom>
          <a:solidFill>
            <a:srgbClr val="000000"/>
          </a:solidFill>
        </p:spPr>
        <p:txBody>
          <a:bodyPr wrap="square" lIns="0" tIns="0" rIns="0" bIns="0" rtlCol="0"/>
          <a:lstStyle/>
          <a:p>
            <a:endParaRPr/>
          </a:p>
        </p:txBody>
      </p:sp>
      <p:sp>
        <p:nvSpPr>
          <p:cNvPr id="115" name="object 65">
            <a:extLst>
              <a:ext uri="{FF2B5EF4-FFF2-40B4-BE49-F238E27FC236}">
                <a16:creationId xmlns:a16="http://schemas.microsoft.com/office/drawing/2014/main" id="{74A4CAE1-BC33-1BCD-6F24-54F1DFA8AEDB}"/>
              </a:ext>
            </a:extLst>
          </p:cNvPr>
          <p:cNvSpPr txBox="1"/>
          <p:nvPr/>
        </p:nvSpPr>
        <p:spPr>
          <a:xfrm>
            <a:off x="8993378" y="3532730"/>
            <a:ext cx="733425" cy="240029"/>
          </a:xfrm>
          <a:prstGeom prst="rect">
            <a:avLst/>
          </a:prstGeom>
        </p:spPr>
        <p:txBody>
          <a:bodyPr vert="horz" wrap="square" lIns="0" tIns="13335" rIns="0" bIns="0" rtlCol="0">
            <a:spAutoFit/>
          </a:bodyPr>
          <a:lstStyle/>
          <a:p>
            <a:pPr>
              <a:lnSpc>
                <a:spcPct val="100000"/>
              </a:lnSpc>
              <a:spcBef>
                <a:spcPts val="105"/>
              </a:spcBef>
            </a:pPr>
            <a:r>
              <a:rPr sz="1400" spc="5" dirty="0">
                <a:latin typeface="Calibri"/>
                <a:cs typeface="Calibri"/>
              </a:rPr>
              <a:t>W</a:t>
            </a:r>
            <a:r>
              <a:rPr sz="1400" spc="-65" dirty="0">
                <a:latin typeface="Calibri"/>
                <a:cs typeface="Calibri"/>
              </a:rPr>
              <a:t> </a:t>
            </a:r>
            <a:r>
              <a:rPr sz="1400" spc="-5" dirty="0">
                <a:latin typeface="Calibri"/>
                <a:cs typeface="Calibri"/>
              </a:rPr>
              <a:t>(width)</a:t>
            </a:r>
            <a:endParaRPr sz="1400" dirty="0">
              <a:latin typeface="Calibri"/>
              <a:cs typeface="Calibri"/>
            </a:endParaRPr>
          </a:p>
        </p:txBody>
      </p:sp>
      <p:sp>
        <p:nvSpPr>
          <p:cNvPr id="116" name="object 73">
            <a:extLst>
              <a:ext uri="{FF2B5EF4-FFF2-40B4-BE49-F238E27FC236}">
                <a16:creationId xmlns:a16="http://schemas.microsoft.com/office/drawing/2014/main" id="{CC9D2269-0CA8-143F-4E45-F3AF594A2ED3}"/>
              </a:ext>
            </a:extLst>
          </p:cNvPr>
          <p:cNvSpPr txBox="1"/>
          <p:nvPr/>
        </p:nvSpPr>
        <p:spPr>
          <a:xfrm>
            <a:off x="8473440" y="3983757"/>
            <a:ext cx="1758950" cy="986155"/>
          </a:xfrm>
          <a:prstGeom prst="rect">
            <a:avLst/>
          </a:prstGeom>
          <a:solidFill>
            <a:srgbClr val="CCB657"/>
          </a:solidFill>
        </p:spPr>
        <p:txBody>
          <a:bodyPr vert="horz" wrap="square" lIns="0" tIns="2540" rIns="0" bIns="0" rtlCol="0">
            <a:spAutoFit/>
          </a:bodyPr>
          <a:lstStyle/>
          <a:p>
            <a:pPr>
              <a:lnSpc>
                <a:spcPct val="100000"/>
              </a:lnSpc>
              <a:spcBef>
                <a:spcPts val="20"/>
              </a:spcBef>
            </a:pPr>
            <a:endParaRPr sz="2350" dirty="0">
              <a:latin typeface="Times New Roman"/>
              <a:cs typeface="Times New Roman"/>
            </a:endParaRPr>
          </a:p>
          <a:p>
            <a:pPr marL="18415" algn="ctr">
              <a:lnSpc>
                <a:spcPct val="100000"/>
              </a:lnSpc>
            </a:pPr>
            <a:r>
              <a:rPr sz="1600" b="1" spc="-10" dirty="0">
                <a:latin typeface="Calibri"/>
                <a:cs typeface="Calibri"/>
              </a:rPr>
              <a:t>Core</a:t>
            </a:r>
            <a:endParaRPr sz="1600" dirty="0">
              <a:latin typeface="Calibri"/>
              <a:cs typeface="Calibri"/>
            </a:endParaRPr>
          </a:p>
        </p:txBody>
      </p:sp>
      <p:sp>
        <p:nvSpPr>
          <p:cNvPr id="117" name="object 74">
            <a:extLst>
              <a:ext uri="{FF2B5EF4-FFF2-40B4-BE49-F238E27FC236}">
                <a16:creationId xmlns:a16="http://schemas.microsoft.com/office/drawing/2014/main" id="{8A3332FF-25D4-1955-323F-BBD1D30324AC}"/>
              </a:ext>
            </a:extLst>
          </p:cNvPr>
          <p:cNvSpPr txBox="1"/>
          <p:nvPr/>
        </p:nvSpPr>
        <p:spPr>
          <a:xfrm>
            <a:off x="10472623" y="4338253"/>
            <a:ext cx="741045" cy="269240"/>
          </a:xfrm>
          <a:prstGeom prst="rect">
            <a:avLst/>
          </a:prstGeom>
        </p:spPr>
        <p:txBody>
          <a:bodyPr vert="horz" wrap="square" lIns="0" tIns="12065" rIns="0" bIns="0" rtlCol="0">
            <a:spAutoFit/>
          </a:bodyPr>
          <a:lstStyle/>
          <a:p>
            <a:pPr>
              <a:lnSpc>
                <a:spcPct val="100000"/>
              </a:lnSpc>
              <a:spcBef>
                <a:spcPts val="95"/>
              </a:spcBef>
            </a:pPr>
            <a:r>
              <a:rPr sz="1600" b="1" spc="-10" dirty="0">
                <a:latin typeface="Calibri"/>
                <a:cs typeface="Calibri"/>
              </a:rPr>
              <a:t>Cladding</a:t>
            </a:r>
            <a:endParaRPr sz="1600" dirty="0">
              <a:latin typeface="Calibri"/>
              <a:cs typeface="Calibri"/>
            </a:endParaRPr>
          </a:p>
        </p:txBody>
      </p:sp>
      <p:sp>
        <p:nvSpPr>
          <p:cNvPr id="120" name="object 73">
            <a:extLst>
              <a:ext uri="{FF2B5EF4-FFF2-40B4-BE49-F238E27FC236}">
                <a16:creationId xmlns:a16="http://schemas.microsoft.com/office/drawing/2014/main" id="{C699977C-9138-F9B9-E43D-0CCB01AEB75F}"/>
              </a:ext>
            </a:extLst>
          </p:cNvPr>
          <p:cNvSpPr txBox="1"/>
          <p:nvPr/>
        </p:nvSpPr>
        <p:spPr>
          <a:xfrm>
            <a:off x="7391400" y="4690819"/>
            <a:ext cx="3906179" cy="610424"/>
          </a:xfrm>
          <a:prstGeom prst="rect">
            <a:avLst/>
          </a:prstGeom>
          <a:solidFill>
            <a:srgbClr val="CCB657"/>
          </a:solidFill>
        </p:spPr>
        <p:txBody>
          <a:bodyPr vert="horz" wrap="square" lIns="0" tIns="2540" rIns="0" bIns="0" rtlCol="0">
            <a:spAutoFit/>
          </a:bodyPr>
          <a:lstStyle/>
          <a:p>
            <a:pPr>
              <a:lnSpc>
                <a:spcPct val="100000"/>
              </a:lnSpc>
              <a:spcBef>
                <a:spcPts val="20"/>
              </a:spcBef>
            </a:pPr>
            <a:endParaRPr lang="es-ES" sz="2350" dirty="0">
              <a:latin typeface="Times New Roman"/>
              <a:cs typeface="Times New Roman"/>
            </a:endParaRPr>
          </a:p>
          <a:p>
            <a:pPr marL="18415">
              <a:lnSpc>
                <a:spcPct val="100000"/>
              </a:lnSpc>
            </a:pPr>
            <a:r>
              <a:rPr lang="es-ES" sz="1600" b="1" spc="-10" dirty="0" err="1">
                <a:latin typeface="Calibri"/>
                <a:cs typeface="Calibri"/>
              </a:rPr>
              <a:t>Slab</a:t>
            </a:r>
            <a:endParaRPr sz="1600" dirty="0">
              <a:latin typeface="Calibri"/>
              <a:cs typeface="Calibri"/>
            </a:endParaRPr>
          </a:p>
        </p:txBody>
      </p:sp>
      <p:sp>
        <p:nvSpPr>
          <p:cNvPr id="112" name="object 62">
            <a:extLst>
              <a:ext uri="{FF2B5EF4-FFF2-40B4-BE49-F238E27FC236}">
                <a16:creationId xmlns:a16="http://schemas.microsoft.com/office/drawing/2014/main" id="{04561701-4B4F-F208-98F6-2DAB5C1138D3}"/>
              </a:ext>
            </a:extLst>
          </p:cNvPr>
          <p:cNvSpPr/>
          <p:nvPr/>
        </p:nvSpPr>
        <p:spPr>
          <a:xfrm>
            <a:off x="8575910" y="3994221"/>
            <a:ext cx="56259" cy="694989"/>
          </a:xfrm>
          <a:custGeom>
            <a:avLst/>
            <a:gdLst/>
            <a:ahLst/>
            <a:cxnLst/>
            <a:rect l="l" t="t" r="r" b="b"/>
            <a:pathLst>
              <a:path w="76200" h="986155">
                <a:moveTo>
                  <a:pt x="31750" y="909827"/>
                </a:moveTo>
                <a:lnTo>
                  <a:pt x="0" y="909827"/>
                </a:lnTo>
                <a:lnTo>
                  <a:pt x="38100" y="986027"/>
                </a:lnTo>
                <a:lnTo>
                  <a:pt x="69850" y="922527"/>
                </a:lnTo>
                <a:lnTo>
                  <a:pt x="31750" y="922527"/>
                </a:lnTo>
                <a:lnTo>
                  <a:pt x="31750" y="909827"/>
                </a:lnTo>
                <a:close/>
              </a:path>
              <a:path w="76200" h="986155">
                <a:moveTo>
                  <a:pt x="44450" y="63500"/>
                </a:moveTo>
                <a:lnTo>
                  <a:pt x="31750" y="63500"/>
                </a:lnTo>
                <a:lnTo>
                  <a:pt x="31750" y="922527"/>
                </a:lnTo>
                <a:lnTo>
                  <a:pt x="44450" y="922527"/>
                </a:lnTo>
                <a:lnTo>
                  <a:pt x="44450" y="63500"/>
                </a:lnTo>
                <a:close/>
              </a:path>
              <a:path w="76200" h="986155">
                <a:moveTo>
                  <a:pt x="76200" y="909827"/>
                </a:moveTo>
                <a:lnTo>
                  <a:pt x="44450" y="909827"/>
                </a:lnTo>
                <a:lnTo>
                  <a:pt x="44450" y="922527"/>
                </a:lnTo>
                <a:lnTo>
                  <a:pt x="69850" y="922527"/>
                </a:lnTo>
                <a:lnTo>
                  <a:pt x="76200" y="909827"/>
                </a:lnTo>
                <a:close/>
              </a:path>
              <a:path w="76200" h="986155">
                <a:moveTo>
                  <a:pt x="38100" y="0"/>
                </a:moveTo>
                <a:lnTo>
                  <a:pt x="0" y="76200"/>
                </a:lnTo>
                <a:lnTo>
                  <a:pt x="31750" y="76200"/>
                </a:lnTo>
                <a:lnTo>
                  <a:pt x="31750" y="63500"/>
                </a:lnTo>
                <a:lnTo>
                  <a:pt x="69850" y="63500"/>
                </a:lnTo>
                <a:lnTo>
                  <a:pt x="38100" y="0"/>
                </a:lnTo>
                <a:close/>
              </a:path>
              <a:path w="76200" h="986155">
                <a:moveTo>
                  <a:pt x="69850" y="63500"/>
                </a:moveTo>
                <a:lnTo>
                  <a:pt x="44450" y="63500"/>
                </a:lnTo>
                <a:lnTo>
                  <a:pt x="44450" y="76200"/>
                </a:lnTo>
                <a:lnTo>
                  <a:pt x="76200" y="76200"/>
                </a:lnTo>
                <a:lnTo>
                  <a:pt x="69850" y="63500"/>
                </a:lnTo>
                <a:close/>
              </a:path>
            </a:pathLst>
          </a:custGeom>
          <a:solidFill>
            <a:srgbClr val="000000"/>
          </a:solidFill>
        </p:spPr>
        <p:txBody>
          <a:bodyPr wrap="square" lIns="0" tIns="0" rIns="0" bIns="0" rtlCol="0"/>
          <a:lstStyle/>
          <a:p>
            <a:endParaRPr/>
          </a:p>
        </p:txBody>
      </p:sp>
      <p:sp>
        <p:nvSpPr>
          <p:cNvPr id="121" name="object 62">
            <a:extLst>
              <a:ext uri="{FF2B5EF4-FFF2-40B4-BE49-F238E27FC236}">
                <a16:creationId xmlns:a16="http://schemas.microsoft.com/office/drawing/2014/main" id="{CCA3B0D6-0C9E-B4A6-FA43-1AB5F1821674}"/>
              </a:ext>
            </a:extLst>
          </p:cNvPr>
          <p:cNvSpPr/>
          <p:nvPr/>
        </p:nvSpPr>
        <p:spPr>
          <a:xfrm>
            <a:off x="8233207" y="4689210"/>
            <a:ext cx="55008" cy="613272"/>
          </a:xfrm>
          <a:custGeom>
            <a:avLst/>
            <a:gdLst/>
            <a:ahLst/>
            <a:cxnLst/>
            <a:rect l="l" t="t" r="r" b="b"/>
            <a:pathLst>
              <a:path w="76200" h="986155">
                <a:moveTo>
                  <a:pt x="31750" y="909827"/>
                </a:moveTo>
                <a:lnTo>
                  <a:pt x="0" y="909827"/>
                </a:lnTo>
                <a:lnTo>
                  <a:pt x="38100" y="986027"/>
                </a:lnTo>
                <a:lnTo>
                  <a:pt x="69850" y="922527"/>
                </a:lnTo>
                <a:lnTo>
                  <a:pt x="31750" y="922527"/>
                </a:lnTo>
                <a:lnTo>
                  <a:pt x="31750" y="909827"/>
                </a:lnTo>
                <a:close/>
              </a:path>
              <a:path w="76200" h="986155">
                <a:moveTo>
                  <a:pt x="44450" y="63500"/>
                </a:moveTo>
                <a:lnTo>
                  <a:pt x="31750" y="63500"/>
                </a:lnTo>
                <a:lnTo>
                  <a:pt x="31750" y="922527"/>
                </a:lnTo>
                <a:lnTo>
                  <a:pt x="44450" y="922527"/>
                </a:lnTo>
                <a:lnTo>
                  <a:pt x="44450" y="63500"/>
                </a:lnTo>
                <a:close/>
              </a:path>
              <a:path w="76200" h="986155">
                <a:moveTo>
                  <a:pt x="76200" y="909827"/>
                </a:moveTo>
                <a:lnTo>
                  <a:pt x="44450" y="909827"/>
                </a:lnTo>
                <a:lnTo>
                  <a:pt x="44450" y="922527"/>
                </a:lnTo>
                <a:lnTo>
                  <a:pt x="69850" y="922527"/>
                </a:lnTo>
                <a:lnTo>
                  <a:pt x="76200" y="909827"/>
                </a:lnTo>
                <a:close/>
              </a:path>
              <a:path w="76200" h="986155">
                <a:moveTo>
                  <a:pt x="38100" y="0"/>
                </a:moveTo>
                <a:lnTo>
                  <a:pt x="0" y="76200"/>
                </a:lnTo>
                <a:lnTo>
                  <a:pt x="31750" y="76200"/>
                </a:lnTo>
                <a:lnTo>
                  <a:pt x="31750" y="63500"/>
                </a:lnTo>
                <a:lnTo>
                  <a:pt x="69850" y="63500"/>
                </a:lnTo>
                <a:lnTo>
                  <a:pt x="38100" y="0"/>
                </a:lnTo>
                <a:close/>
              </a:path>
              <a:path w="76200" h="986155">
                <a:moveTo>
                  <a:pt x="69850" y="63500"/>
                </a:moveTo>
                <a:lnTo>
                  <a:pt x="44450" y="63500"/>
                </a:lnTo>
                <a:lnTo>
                  <a:pt x="44450" y="76200"/>
                </a:lnTo>
                <a:lnTo>
                  <a:pt x="76200" y="76200"/>
                </a:lnTo>
                <a:lnTo>
                  <a:pt x="69850" y="63500"/>
                </a:lnTo>
                <a:close/>
              </a:path>
            </a:pathLst>
          </a:custGeom>
          <a:solidFill>
            <a:srgbClr val="000000"/>
          </a:solidFill>
        </p:spPr>
        <p:txBody>
          <a:bodyPr wrap="square" lIns="0" tIns="0" rIns="0" bIns="0" rtlCol="0"/>
          <a:lstStyle/>
          <a:p>
            <a:endParaRPr/>
          </a:p>
        </p:txBody>
      </p:sp>
      <p:sp>
        <p:nvSpPr>
          <p:cNvPr id="113" name="object 63">
            <a:extLst>
              <a:ext uri="{FF2B5EF4-FFF2-40B4-BE49-F238E27FC236}">
                <a16:creationId xmlns:a16="http://schemas.microsoft.com/office/drawing/2014/main" id="{6394166D-0522-24AD-E666-39FE8A3FDC24}"/>
              </a:ext>
            </a:extLst>
          </p:cNvPr>
          <p:cNvSpPr txBox="1"/>
          <p:nvPr/>
        </p:nvSpPr>
        <p:spPr>
          <a:xfrm>
            <a:off x="8351994" y="4887127"/>
            <a:ext cx="674053" cy="228909"/>
          </a:xfrm>
          <a:prstGeom prst="rect">
            <a:avLst/>
          </a:prstGeom>
        </p:spPr>
        <p:txBody>
          <a:bodyPr vert="horz" wrap="square" lIns="0" tIns="13335" rIns="0" bIns="0" rtlCol="0">
            <a:spAutoFit/>
          </a:bodyPr>
          <a:lstStyle/>
          <a:p>
            <a:pPr marR="3175">
              <a:lnSpc>
                <a:spcPct val="100000"/>
              </a:lnSpc>
              <a:spcBef>
                <a:spcPts val="105"/>
              </a:spcBef>
            </a:pPr>
            <a:r>
              <a:rPr lang="es-ES" sz="1400" dirty="0" err="1">
                <a:latin typeface="Calibri"/>
                <a:cs typeface="Calibri"/>
              </a:rPr>
              <a:t>h_slab</a:t>
            </a:r>
            <a:endParaRPr sz="1400" dirty="0">
              <a:latin typeface="Calibri"/>
              <a:cs typeface="Calibri"/>
            </a:endParaRPr>
          </a:p>
        </p:txBody>
      </p:sp>
      <p:sp>
        <p:nvSpPr>
          <p:cNvPr id="122" name="object 63">
            <a:extLst>
              <a:ext uri="{FF2B5EF4-FFF2-40B4-BE49-F238E27FC236}">
                <a16:creationId xmlns:a16="http://schemas.microsoft.com/office/drawing/2014/main" id="{B589EB7D-B26E-4239-A5C2-F96DBBE82162}"/>
              </a:ext>
            </a:extLst>
          </p:cNvPr>
          <p:cNvSpPr txBox="1"/>
          <p:nvPr/>
        </p:nvSpPr>
        <p:spPr>
          <a:xfrm>
            <a:off x="8706378" y="3990085"/>
            <a:ext cx="1380175" cy="228909"/>
          </a:xfrm>
          <a:prstGeom prst="rect">
            <a:avLst/>
          </a:prstGeom>
        </p:spPr>
        <p:txBody>
          <a:bodyPr vert="horz" wrap="square" lIns="0" tIns="13335" rIns="0" bIns="0" rtlCol="0">
            <a:spAutoFit/>
          </a:bodyPr>
          <a:lstStyle/>
          <a:p>
            <a:pPr marR="3175">
              <a:lnSpc>
                <a:spcPct val="100000"/>
              </a:lnSpc>
              <a:spcBef>
                <a:spcPts val="105"/>
              </a:spcBef>
            </a:pPr>
            <a:r>
              <a:rPr lang="es-ES" sz="1400" spc="-10" dirty="0" err="1">
                <a:latin typeface="Calibri"/>
                <a:cs typeface="Calibri"/>
              </a:rPr>
              <a:t>h_core</a:t>
            </a:r>
            <a:r>
              <a:rPr lang="es-ES" sz="1400" spc="-10" dirty="0">
                <a:latin typeface="Calibri"/>
                <a:cs typeface="Calibri"/>
              </a:rPr>
              <a:t> </a:t>
            </a:r>
            <a:endParaRPr sz="1400" dirty="0">
              <a:latin typeface="Calibri"/>
              <a:cs typeface="Calibri"/>
            </a:endParaRPr>
          </a:p>
        </p:txBody>
      </p:sp>
      <p:sp>
        <p:nvSpPr>
          <p:cNvPr id="2" name="CuadroTexto 1">
            <a:extLst>
              <a:ext uri="{FF2B5EF4-FFF2-40B4-BE49-F238E27FC236}">
                <a16:creationId xmlns:a16="http://schemas.microsoft.com/office/drawing/2014/main" id="{57D9AFBE-EF33-9078-9CE3-5C8B079B0C36}"/>
              </a:ext>
            </a:extLst>
          </p:cNvPr>
          <p:cNvSpPr txBox="1"/>
          <p:nvPr/>
        </p:nvSpPr>
        <p:spPr>
          <a:xfrm>
            <a:off x="9306491" y="5257071"/>
            <a:ext cx="1980542" cy="369332"/>
          </a:xfrm>
          <a:prstGeom prst="rect">
            <a:avLst/>
          </a:prstGeom>
          <a:noFill/>
        </p:spPr>
        <p:txBody>
          <a:bodyPr wrap="none" rtlCol="0">
            <a:spAutoFit/>
          </a:bodyPr>
          <a:lstStyle/>
          <a:p>
            <a:pPr algn="ctr"/>
            <a:r>
              <a:rPr lang="en-US" b="1" dirty="0"/>
              <a:t>shallow</a:t>
            </a:r>
            <a:r>
              <a:rPr lang="en-US" dirty="0"/>
              <a:t> waveguide</a:t>
            </a:r>
          </a:p>
        </p:txBody>
      </p:sp>
      <p:sp>
        <p:nvSpPr>
          <p:cNvPr id="8" name="CuadroTexto 7">
            <a:extLst>
              <a:ext uri="{FF2B5EF4-FFF2-40B4-BE49-F238E27FC236}">
                <a16:creationId xmlns:a16="http://schemas.microsoft.com/office/drawing/2014/main" id="{7336B5D8-2D70-3E7A-336D-AF55EC49DEB8}"/>
              </a:ext>
            </a:extLst>
          </p:cNvPr>
          <p:cNvSpPr txBox="1"/>
          <p:nvPr/>
        </p:nvSpPr>
        <p:spPr>
          <a:xfrm>
            <a:off x="2969899" y="5257071"/>
            <a:ext cx="2157554" cy="369332"/>
          </a:xfrm>
          <a:prstGeom prst="rect">
            <a:avLst/>
          </a:prstGeom>
          <a:noFill/>
        </p:spPr>
        <p:txBody>
          <a:bodyPr wrap="square">
            <a:spAutoFit/>
          </a:bodyPr>
          <a:lstStyle/>
          <a:p>
            <a:pPr algn="ctr"/>
            <a:r>
              <a:rPr lang="en-US" b="1" dirty="0"/>
              <a:t>deep</a:t>
            </a:r>
            <a:r>
              <a:rPr lang="en-US" dirty="0"/>
              <a:t> waveguide</a:t>
            </a:r>
          </a:p>
        </p:txBody>
      </p:sp>
    </p:spTree>
    <p:extLst>
      <p:ext uri="{BB962C8B-B14F-4D97-AF65-F5344CB8AC3E}">
        <p14:creationId xmlns:p14="http://schemas.microsoft.com/office/powerpoint/2010/main" val="47392280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80DA9C-35AF-A1D7-01E5-BFD9DEF1550F}"/>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471E1424-6C4B-2D9A-1352-30AFB987AD41}"/>
              </a:ext>
            </a:extLst>
          </p:cNvPr>
          <p:cNvSpPr txBox="1">
            <a:spLocks noGrp="1"/>
          </p:cNvSpPr>
          <p:nvPr>
            <p:ph type="title"/>
          </p:nvPr>
        </p:nvSpPr>
        <p:spPr>
          <a:xfrm>
            <a:off x="685800" y="408883"/>
            <a:ext cx="10994410" cy="782265"/>
          </a:xfrm>
          <a:prstGeom prst="rect">
            <a:avLst/>
          </a:prstGeom>
        </p:spPr>
        <p:txBody>
          <a:bodyPr vert="horz" wrap="square" lIns="0" tIns="12700" rIns="0" bIns="0" rtlCol="0">
            <a:spAutoFit/>
          </a:bodyPr>
          <a:lstStyle/>
          <a:p>
            <a:pPr marL="12700">
              <a:lnSpc>
                <a:spcPct val="100000"/>
              </a:lnSpc>
              <a:spcBef>
                <a:spcPts val="100"/>
              </a:spcBef>
            </a:pPr>
            <a:r>
              <a:rPr lang="en-US" sz="2500" dirty="0"/>
              <a:t>Learning outcome #1 – Effective index of a waveguide</a:t>
            </a:r>
            <a:br>
              <a:rPr lang="es-ES" sz="2500" spc="-5" dirty="0">
                <a:latin typeface="+mj-lt"/>
                <a:cs typeface="Lucida Sans"/>
              </a:rPr>
            </a:br>
            <a:endParaRPr sz="2500" b="0" dirty="0">
              <a:latin typeface="+mj-lt"/>
              <a:cs typeface="Lucida Sans"/>
            </a:endParaRPr>
          </a:p>
        </p:txBody>
      </p:sp>
      <p:pic>
        <p:nvPicPr>
          <p:cNvPr id="83" name="Gráfico 82">
            <a:extLst>
              <a:ext uri="{FF2B5EF4-FFF2-40B4-BE49-F238E27FC236}">
                <a16:creationId xmlns:a16="http://schemas.microsoft.com/office/drawing/2014/main" id="{9DCFD462-4416-65F8-5696-B0135B632765}"/>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293F5C1D-AFFF-4EA6-CA59-6503F34EBF5F}"/>
              </a:ext>
            </a:extLst>
          </p:cNvPr>
          <p:cNvSpPr>
            <a:spLocks noGrp="1"/>
          </p:cNvSpPr>
          <p:nvPr>
            <p:ph type="sldNum" sz="quarter" idx="7"/>
          </p:nvPr>
        </p:nvSpPr>
        <p:spPr/>
        <p:txBody>
          <a:bodyPr/>
          <a:lstStyle/>
          <a:p>
            <a:fld id="{B6F15528-21DE-4FAA-801E-634DDDAF4B2B}" type="slidenum">
              <a:rPr lang="es-ES" smtClean="0"/>
              <a:t>3</a:t>
            </a:fld>
            <a:endParaRPr lang="es-ES"/>
          </a:p>
        </p:txBody>
      </p:sp>
      <p:sp>
        <p:nvSpPr>
          <p:cNvPr id="3" name="Marcador de pie de página 2">
            <a:extLst>
              <a:ext uri="{FF2B5EF4-FFF2-40B4-BE49-F238E27FC236}">
                <a16:creationId xmlns:a16="http://schemas.microsoft.com/office/drawing/2014/main" id="{34F13AC1-9668-7266-DF5B-D7CE084AB044}"/>
              </a:ext>
            </a:extLst>
          </p:cNvPr>
          <p:cNvSpPr>
            <a:spLocks noGrp="1"/>
          </p:cNvSpPr>
          <p:nvPr>
            <p:ph type="ftr" sz="quarter" idx="5"/>
          </p:nvPr>
        </p:nvSpPr>
        <p:spPr/>
        <p:txBody>
          <a:bodyPr/>
          <a:lstStyle/>
          <a:p>
            <a:pPr marL="12700">
              <a:spcBef>
                <a:spcPts val="15"/>
              </a:spcBef>
            </a:pPr>
            <a:r>
              <a:rPr lang="es-ES" spc="-5"/>
              <a:t>LAB 1.0 WAVEGUIDES</a:t>
            </a:r>
            <a:endParaRPr lang="es-ES" spc="-5" dirty="0"/>
          </a:p>
        </p:txBody>
      </p:sp>
      <p:sp>
        <p:nvSpPr>
          <p:cNvPr id="4" name="Marcador de texto 2">
            <a:extLst>
              <a:ext uri="{FF2B5EF4-FFF2-40B4-BE49-F238E27FC236}">
                <a16:creationId xmlns:a16="http://schemas.microsoft.com/office/drawing/2014/main" id="{AA9E72FF-B948-6B7A-8909-97C6BE95D6FB}"/>
              </a:ext>
            </a:extLst>
          </p:cNvPr>
          <p:cNvSpPr txBox="1">
            <a:spLocks/>
          </p:cNvSpPr>
          <p:nvPr/>
        </p:nvSpPr>
        <p:spPr>
          <a:xfrm>
            <a:off x="640080" y="1325880"/>
            <a:ext cx="4160520" cy="3931920"/>
          </a:xfrm>
          <a:prstGeom prst="rect">
            <a:avLst/>
          </a:prstGeom>
        </p:spPr>
        <p:txBody>
          <a:bodyPr wrap="square">
            <a:normAutofit/>
          </a:bodyPr>
          <a:lst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pPr marL="0" indent="0" algn="l">
              <a:buNone/>
              <a:defRPr sz="1500" b="1"/>
            </a:pPr>
            <a:r>
              <a:t>Deep SiNx waveguide</a:t>
            </a:r>
          </a:p>
          <a:p>
            <a:pPr algn="l">
              <a:defRPr sz="1500" b="0"/>
            </a:pPr>
            <a:r>
              <a:t>w = 1.2 um, h = 300 nm, lambda = 1.55 um</a:t>
            </a:r>
          </a:p>
          <a:p>
            <a:pPr algn="l">
              <a:defRPr sz="1500" b="0"/>
            </a:pPr>
            <a:r>
              <a:t>Core: SiNx, cladding: SiO2</a:t>
            </a:r>
          </a:p>
          <a:p>
            <a:pPr algn="l">
              <a:defRPr sz="1500" b="0"/>
            </a:pPr>
            <a:endParaRPr/>
          </a:p>
          <a:p>
            <a:pPr algn="l">
              <a:defRPr sz="1500" b="0"/>
            </a:pPr>
            <a:r>
              <a:t>Mode 0: quasi-TE, neff = 1.605248</a:t>
            </a:r>
          </a:p>
          <a:p>
            <a:pPr algn="l">
              <a:defRPr sz="1500" b="0"/>
            </a:pPr>
            <a:r>
              <a:t>Mode 1: quasi-TM, neff = 1.528298</a:t>
            </a:r>
          </a:p>
          <a:p>
            <a:pPr algn="l">
              <a:defRPr sz="1500" b="0"/>
            </a:pPr>
            <a:r>
              <a:t>Mode 2: higher-order quasi-TE, neff = 1.450730</a:t>
            </a:r>
          </a:p>
          <a:p>
            <a:pPr algn="l">
              <a:defRPr sz="1500" b="0"/>
            </a:pPr>
            <a:r>
              <a:t>Mode 3: higher-order quasi-TM, neff = 1.433258</a:t>
            </a:r>
          </a:p>
          <a:p>
            <a:pPr algn="l">
              <a:defRPr sz="1500" b="0"/>
            </a:pPr>
            <a:endParaRPr/>
          </a:p>
          <a:p>
            <a:pPr algn="l">
              <a:defRPr sz="1500" b="0"/>
            </a:pPr>
            <a:r>
              <a:t>All guided modes stay above the SiO2 index, so the solutions are physically consistent.</a:t>
            </a:r>
          </a:p>
        </p:txBody>
      </p:sp>
      <p:sp>
        <p:nvSpPr>
          <p:cNvPr id="2" name="CuadroTexto 1">
            <a:extLst>
              <a:ext uri="{FF2B5EF4-FFF2-40B4-BE49-F238E27FC236}">
                <a16:creationId xmlns:a16="http://schemas.microsoft.com/office/drawing/2014/main" id="{D0F8CF3B-B920-DBFC-F825-0C87B51EADA7}"/>
              </a:ext>
            </a:extLst>
          </p:cNvPr>
          <p:cNvSpPr txBox="1"/>
          <p:nvPr/>
        </p:nvSpPr>
        <p:spPr>
          <a:xfrm>
            <a:off x="609441" y="4860334"/>
            <a:ext cx="11199971" cy="1200329"/>
          </a:xfrm>
          <a:prstGeom prst="rect">
            <a:avLst/>
          </a:prstGeom>
          <a:solidFill>
            <a:schemeClr val="bg1">
              <a:lumMod val="95000"/>
            </a:schemeClr>
          </a:solidFill>
          <a:ln w="28575">
            <a:solidFill>
              <a:srgbClr val="E0700D"/>
            </a:solidFill>
          </a:ln>
        </p:spPr>
        <p:txBody>
          <a:bodyPr wrap="square" rtlCol="0">
            <a:spAutoFit/>
          </a:bodyPr>
          <a:lstStyle/>
          <a:p>
            <a:pPr algn="l">
              <a:defRPr sz="1400" b="0"/>
            </a:pPr>
            <a:r>
              <a:t>Mode profiles at lambda = 1.55 um. Quasi-TE branches: modes 0 and 2. Quasi-TM branches: modes 1 and 3.</a:t>
            </a:r>
            <a:endParaRPr lang="en-US" sz="1200" dirty="0">
              <a:latin typeface="Arial" panose="020B0604020202020204" pitchFamily="34" charset="0"/>
              <a:cs typeface="Arial" panose="020B0604020202020204" pitchFamily="34" charset="0"/>
            </a:endParaRPr>
          </a:p>
        </p:txBody>
      </p:sp>
      <p:pic>
        <p:nvPicPr>
          <p:cNvPr id="85" name="Picture 84" descr="lo1_fields_collage.png"/>
          <p:cNvPicPr>
            <a:picLocks noChangeAspect="1"/>
          </p:cNvPicPr>
          <p:nvPr/>
        </p:nvPicPr>
        <p:blipFill>
          <a:blip r:embed="rId5"/>
          <a:stretch>
            <a:fillRect/>
          </a:stretch>
        </p:blipFill>
        <p:spPr>
          <a:xfrm>
            <a:off x="6203221" y="940101"/>
            <a:ext cx="5440680" cy="3787056"/>
          </a:xfrm>
          <a:prstGeom prst="rect">
            <a:avLst/>
          </a:prstGeom>
        </p:spPr>
      </p:pic>
    </p:spTree>
    <p:extLst>
      <p:ext uri="{BB962C8B-B14F-4D97-AF65-F5344CB8AC3E}">
        <p14:creationId xmlns:p14="http://schemas.microsoft.com/office/powerpoint/2010/main" val="73050131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1656EC-E197-239C-60DD-C11F7BA4B44A}"/>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5431EA70-9578-8BF1-5A05-77CDC26788B4}"/>
              </a:ext>
            </a:extLst>
          </p:cNvPr>
          <p:cNvSpPr txBox="1">
            <a:spLocks noGrp="1"/>
          </p:cNvSpPr>
          <p:nvPr>
            <p:ph type="title"/>
          </p:nvPr>
        </p:nvSpPr>
        <p:spPr>
          <a:xfrm>
            <a:off x="685800" y="408883"/>
            <a:ext cx="10994410" cy="705321"/>
          </a:xfrm>
          <a:prstGeom prst="rect">
            <a:avLst/>
          </a:prstGeom>
        </p:spPr>
        <p:txBody>
          <a:bodyPr vert="horz" wrap="square" lIns="0" tIns="12700" rIns="0" bIns="0" rtlCol="0">
            <a:spAutoFit/>
          </a:bodyPr>
          <a:lstStyle/>
          <a:p>
            <a:pPr marL="12700">
              <a:lnSpc>
                <a:spcPct val="100000"/>
              </a:lnSpc>
              <a:spcBef>
                <a:spcPts val="100"/>
              </a:spcBef>
            </a:pPr>
            <a:r>
              <a:rPr lang="en-US" sz="2500" dirty="0"/>
              <a:t>Learning outcome #2 – Wavelength behavior</a:t>
            </a:r>
            <a:br>
              <a:rPr lang="es-ES" sz="2500" spc="-5" dirty="0">
                <a:latin typeface="+mj-lt"/>
                <a:cs typeface="Lucida Sans"/>
              </a:rPr>
            </a:br>
            <a:r>
              <a:rPr lang="en-US" b="0" dirty="0"/>
              <a:t>Wavelength 1.5-1.6 µm (step 0.01 µm) – width 1.2 µm</a:t>
            </a:r>
            <a:endParaRPr sz="2500" b="0" dirty="0">
              <a:latin typeface="+mj-lt"/>
              <a:cs typeface="Lucida Sans"/>
            </a:endParaRPr>
          </a:p>
        </p:txBody>
      </p:sp>
      <p:pic>
        <p:nvPicPr>
          <p:cNvPr id="83" name="Gráfico 82">
            <a:extLst>
              <a:ext uri="{FF2B5EF4-FFF2-40B4-BE49-F238E27FC236}">
                <a16:creationId xmlns:a16="http://schemas.microsoft.com/office/drawing/2014/main" id="{B6A02C28-9CC3-6E88-B695-04A48E5FDEAC}"/>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FB7F118F-AD79-0ED0-CE53-A8EE4409B4F8}"/>
              </a:ext>
            </a:extLst>
          </p:cNvPr>
          <p:cNvSpPr>
            <a:spLocks noGrp="1"/>
          </p:cNvSpPr>
          <p:nvPr>
            <p:ph type="sldNum" sz="quarter" idx="7"/>
          </p:nvPr>
        </p:nvSpPr>
        <p:spPr/>
        <p:txBody>
          <a:bodyPr/>
          <a:lstStyle/>
          <a:p>
            <a:fld id="{B6F15528-21DE-4FAA-801E-634DDDAF4B2B}" type="slidenum">
              <a:rPr lang="es-ES" smtClean="0"/>
              <a:t>4</a:t>
            </a:fld>
            <a:endParaRPr lang="es-ES"/>
          </a:p>
        </p:txBody>
      </p:sp>
      <p:sp>
        <p:nvSpPr>
          <p:cNvPr id="3" name="Marcador de pie de página 2">
            <a:extLst>
              <a:ext uri="{FF2B5EF4-FFF2-40B4-BE49-F238E27FC236}">
                <a16:creationId xmlns:a16="http://schemas.microsoft.com/office/drawing/2014/main" id="{10846C9D-3FE3-8524-3349-96E1AD1712B3}"/>
              </a:ext>
            </a:extLst>
          </p:cNvPr>
          <p:cNvSpPr>
            <a:spLocks noGrp="1"/>
          </p:cNvSpPr>
          <p:nvPr>
            <p:ph type="ftr" sz="quarter" idx="5"/>
          </p:nvPr>
        </p:nvSpPr>
        <p:spPr/>
        <p:txBody>
          <a:bodyPr/>
          <a:lstStyle/>
          <a:p>
            <a:pPr marL="12700">
              <a:spcBef>
                <a:spcPts val="15"/>
              </a:spcBef>
            </a:pPr>
            <a:r>
              <a:rPr lang="es-ES" spc="-5"/>
              <a:t>LAB 1.0 WAVEGUIDES</a:t>
            </a:r>
            <a:endParaRPr lang="es-ES" spc="-5" dirty="0"/>
          </a:p>
        </p:txBody>
      </p:sp>
      <p:sp>
        <p:nvSpPr>
          <p:cNvPr id="2" name="CuadroTexto 1">
            <a:extLst>
              <a:ext uri="{FF2B5EF4-FFF2-40B4-BE49-F238E27FC236}">
                <a16:creationId xmlns:a16="http://schemas.microsoft.com/office/drawing/2014/main" id="{CA5F0FDF-2A95-453B-4ECA-AEB637FF2694}"/>
              </a:ext>
            </a:extLst>
          </p:cNvPr>
          <p:cNvSpPr txBox="1"/>
          <p:nvPr/>
        </p:nvSpPr>
        <p:spPr>
          <a:xfrm>
            <a:off x="609441" y="4860334"/>
            <a:ext cx="11199971" cy="1200329"/>
          </a:xfrm>
          <a:prstGeom prst="rect">
            <a:avLst/>
          </a:prstGeom>
          <a:solidFill>
            <a:schemeClr val="bg1">
              <a:lumMod val="95000"/>
            </a:schemeClr>
          </a:solidFill>
          <a:ln w="28575">
            <a:solidFill>
              <a:srgbClr val="E0700D"/>
            </a:solidFill>
          </a:ln>
        </p:spPr>
        <p:txBody>
          <a:bodyPr wrap="square" rtlCol="0">
            <a:spAutoFit/>
          </a:bodyPr>
          <a:lstStyle/>
          <a:p>
            <a:pPr algn="l">
              <a:defRPr sz="1500" b="0"/>
            </a:pPr>
            <a:r>
              <a:t>Both waveguides show a monotonic decrease of neff when wavelength increases from 1.50 to 1.60 um.</a:t>
            </a:r>
          </a:p>
          <a:p>
            <a:pPr algn="l">
              <a:defRPr sz="1500" b="0"/>
            </a:pPr>
            <a:r>
              <a:t>The 150 nm slab shifts the dominant branches upward: TE0 goes from 1.6337 to 1.6149 in the shallow guide, versus 1.6160 to 1.5944 in the deep guide.</a:t>
            </a:r>
          </a:p>
          <a:p>
            <a:pPr algn="l">
              <a:defRPr sz="1500" b="0"/>
            </a:pPr>
            <a:r>
              <a:t>The shallow geometry also packs the modes more closely together, so polarization mixing is stronger than in the deep rib.</a:t>
            </a:r>
          </a:p>
        </p:txBody>
      </p:sp>
      <p:sp>
        <p:nvSpPr>
          <p:cNvPr id="5" name="Rectángulo 4">
            <a:extLst>
              <a:ext uri="{FF2B5EF4-FFF2-40B4-BE49-F238E27FC236}">
                <a16:creationId xmlns:a16="http://schemas.microsoft.com/office/drawing/2014/main" id="{88F19863-7091-B8CA-F848-DBEA5CEEA027}"/>
              </a:ext>
            </a:extLst>
          </p:cNvPr>
          <p:cNvSpPr/>
          <p:nvPr/>
        </p:nvSpPr>
        <p:spPr>
          <a:xfrm>
            <a:off x="609441" y="1418373"/>
            <a:ext cx="5332571"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CuadroTexto 5">
            <a:extLst>
              <a:ext uri="{FF2B5EF4-FFF2-40B4-BE49-F238E27FC236}">
                <a16:creationId xmlns:a16="http://schemas.microsoft.com/office/drawing/2014/main" id="{3C4E7A47-20E2-3C27-D841-5A665642F6E2}"/>
              </a:ext>
            </a:extLst>
          </p:cNvPr>
          <p:cNvSpPr txBox="1"/>
          <p:nvPr/>
        </p:nvSpPr>
        <p:spPr>
          <a:xfrm>
            <a:off x="2285455" y="2671278"/>
            <a:ext cx="1980542" cy="923330"/>
          </a:xfrm>
          <a:prstGeom prst="rect">
            <a:avLst/>
          </a:prstGeom>
          <a:noFill/>
        </p:spPr>
        <p:txBody>
          <a:bodyPr wrap="square" rtlCol="0">
            <a:spAutoFit/>
          </a:bodyPr>
          <a:lstStyle/>
          <a:p>
            <a:pPr algn="l">
              <a:defRPr sz="100" b="0"/>
            </a:pPr>
            <a:endParaRPr/>
          </a:p>
        </p:txBody>
      </p:sp>
      <p:sp>
        <p:nvSpPr>
          <p:cNvPr id="7" name="Rectángulo 6">
            <a:extLst>
              <a:ext uri="{FF2B5EF4-FFF2-40B4-BE49-F238E27FC236}">
                <a16:creationId xmlns:a16="http://schemas.microsoft.com/office/drawing/2014/main" id="{21F754A5-65BC-14A3-5F55-75716FFA9027}"/>
              </a:ext>
            </a:extLst>
          </p:cNvPr>
          <p:cNvSpPr/>
          <p:nvPr/>
        </p:nvSpPr>
        <p:spPr>
          <a:xfrm>
            <a:off x="6476841" y="1418373"/>
            <a:ext cx="5332571"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CuadroTexto 7">
            <a:extLst>
              <a:ext uri="{FF2B5EF4-FFF2-40B4-BE49-F238E27FC236}">
                <a16:creationId xmlns:a16="http://schemas.microsoft.com/office/drawing/2014/main" id="{CD9C65D4-5494-F5CE-1094-CB0A32C33876}"/>
              </a:ext>
            </a:extLst>
          </p:cNvPr>
          <p:cNvSpPr txBox="1"/>
          <p:nvPr/>
        </p:nvSpPr>
        <p:spPr>
          <a:xfrm>
            <a:off x="8281672" y="2671278"/>
            <a:ext cx="1722908" cy="923330"/>
          </a:xfrm>
          <a:prstGeom prst="rect">
            <a:avLst/>
          </a:prstGeom>
          <a:noFill/>
        </p:spPr>
        <p:txBody>
          <a:bodyPr wrap="square" rtlCol="0">
            <a:spAutoFit/>
          </a:bodyPr>
          <a:lstStyle/>
          <a:p>
            <a:pPr algn="l">
              <a:defRPr sz="100" b="0"/>
            </a:pPr>
            <a:endParaRPr/>
          </a:p>
        </p:txBody>
      </p:sp>
      <p:pic>
        <p:nvPicPr>
          <p:cNvPr id="12" name="Imagen 11">
            <a:extLst>
              <a:ext uri="{FF2B5EF4-FFF2-40B4-BE49-F238E27FC236}">
                <a16:creationId xmlns:a16="http://schemas.microsoft.com/office/drawing/2014/main" id="{4E9943C8-7D57-835F-682C-1EF314140C35}"/>
              </a:ext>
            </a:extLst>
          </p:cNvPr>
          <p:cNvPicPr>
            <a:picLocks noChangeAspect="1"/>
          </p:cNvPicPr>
          <p:nvPr/>
        </p:nvPicPr>
        <p:blipFill>
          <a:blip r:embed="rId5"/>
          <a:stretch>
            <a:fillRect/>
          </a:stretch>
        </p:blipFill>
        <p:spPr>
          <a:xfrm>
            <a:off x="6588338" y="1562471"/>
            <a:ext cx="5109576" cy="2980586"/>
          </a:xfrm>
          <a:prstGeom prst="rect">
            <a:avLst/>
          </a:prstGeom>
        </p:spPr>
      </p:pic>
      <p:pic>
        <p:nvPicPr>
          <p:cNvPr id="14" name="Imagen 13">
            <a:extLst>
              <a:ext uri="{FF2B5EF4-FFF2-40B4-BE49-F238E27FC236}">
                <a16:creationId xmlns:a16="http://schemas.microsoft.com/office/drawing/2014/main" id="{A62EAA56-6221-FC03-3394-A609C2D53046}"/>
              </a:ext>
            </a:extLst>
          </p:cNvPr>
          <p:cNvPicPr>
            <a:picLocks noChangeAspect="1"/>
          </p:cNvPicPr>
          <p:nvPr/>
        </p:nvPicPr>
        <p:blipFill>
          <a:blip r:embed="rId6"/>
          <a:stretch>
            <a:fillRect/>
          </a:stretch>
        </p:blipFill>
        <p:spPr>
          <a:xfrm>
            <a:off x="811909" y="1570578"/>
            <a:ext cx="5081781" cy="2964372"/>
          </a:xfrm>
          <a:prstGeom prst="rect">
            <a:avLst/>
          </a:prstGeom>
        </p:spPr>
      </p:pic>
    </p:spTree>
    <p:extLst>
      <p:ext uri="{BB962C8B-B14F-4D97-AF65-F5344CB8AC3E}">
        <p14:creationId xmlns:p14="http://schemas.microsoft.com/office/powerpoint/2010/main" val="371235600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90AC3D-36B7-D786-3825-B4DD6EADD689}"/>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6AA2E789-F7AE-F068-274C-E0F13A22DBCA}"/>
              </a:ext>
            </a:extLst>
          </p:cNvPr>
          <p:cNvSpPr txBox="1">
            <a:spLocks noGrp="1"/>
          </p:cNvSpPr>
          <p:nvPr>
            <p:ph type="title"/>
          </p:nvPr>
        </p:nvSpPr>
        <p:spPr>
          <a:xfrm>
            <a:off x="685800" y="408883"/>
            <a:ext cx="10994410" cy="705321"/>
          </a:xfrm>
          <a:prstGeom prst="rect">
            <a:avLst/>
          </a:prstGeom>
        </p:spPr>
        <p:txBody>
          <a:bodyPr vert="horz" wrap="square" lIns="0" tIns="12700" rIns="0" bIns="0" rtlCol="0">
            <a:spAutoFit/>
          </a:bodyPr>
          <a:lstStyle/>
          <a:p>
            <a:pPr marL="12700">
              <a:lnSpc>
                <a:spcPct val="100000"/>
              </a:lnSpc>
              <a:spcBef>
                <a:spcPts val="100"/>
              </a:spcBef>
            </a:pPr>
            <a:r>
              <a:rPr lang="en-US" sz="2500" dirty="0"/>
              <a:t>Learning outcome #3 – Width dependence</a:t>
            </a:r>
            <a:br>
              <a:rPr lang="es-ES" sz="2500" spc="-5" dirty="0">
                <a:latin typeface="+mj-lt"/>
                <a:cs typeface="Lucida Sans"/>
              </a:rPr>
            </a:br>
            <a:r>
              <a:rPr lang="en-US" b="0" dirty="0"/>
              <a:t>Width 0.6 - 1.6 µm (step 0.1 µm) – Wavelength 1.55 µm </a:t>
            </a:r>
            <a:endParaRPr sz="2500" b="0" dirty="0">
              <a:latin typeface="+mj-lt"/>
              <a:cs typeface="Lucida Sans"/>
            </a:endParaRPr>
          </a:p>
        </p:txBody>
      </p:sp>
      <p:pic>
        <p:nvPicPr>
          <p:cNvPr id="83" name="Gráfico 82">
            <a:extLst>
              <a:ext uri="{FF2B5EF4-FFF2-40B4-BE49-F238E27FC236}">
                <a16:creationId xmlns:a16="http://schemas.microsoft.com/office/drawing/2014/main" id="{3AEAD01B-7604-8009-5694-A556497AEF25}"/>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696E3846-1BD2-4F23-48AA-C7AF2A1EE6EB}"/>
              </a:ext>
            </a:extLst>
          </p:cNvPr>
          <p:cNvSpPr>
            <a:spLocks noGrp="1"/>
          </p:cNvSpPr>
          <p:nvPr>
            <p:ph type="sldNum" sz="quarter" idx="7"/>
          </p:nvPr>
        </p:nvSpPr>
        <p:spPr/>
        <p:txBody>
          <a:bodyPr/>
          <a:lstStyle/>
          <a:p>
            <a:fld id="{B6F15528-21DE-4FAA-801E-634DDDAF4B2B}" type="slidenum">
              <a:rPr lang="es-ES" smtClean="0"/>
              <a:t>5</a:t>
            </a:fld>
            <a:endParaRPr lang="es-ES"/>
          </a:p>
        </p:txBody>
      </p:sp>
      <p:sp>
        <p:nvSpPr>
          <p:cNvPr id="3" name="Marcador de pie de página 2">
            <a:extLst>
              <a:ext uri="{FF2B5EF4-FFF2-40B4-BE49-F238E27FC236}">
                <a16:creationId xmlns:a16="http://schemas.microsoft.com/office/drawing/2014/main" id="{E32C0E2B-75B6-4768-A4C7-F165A264DA0B}"/>
              </a:ext>
            </a:extLst>
          </p:cNvPr>
          <p:cNvSpPr>
            <a:spLocks noGrp="1"/>
          </p:cNvSpPr>
          <p:nvPr>
            <p:ph type="ftr" sz="quarter" idx="5"/>
          </p:nvPr>
        </p:nvSpPr>
        <p:spPr/>
        <p:txBody>
          <a:bodyPr/>
          <a:lstStyle/>
          <a:p>
            <a:pPr marL="12700">
              <a:spcBef>
                <a:spcPts val="15"/>
              </a:spcBef>
            </a:pPr>
            <a:r>
              <a:rPr lang="es-ES" spc="-5"/>
              <a:t>LAB 1.0 WAVEGUIDES</a:t>
            </a:r>
            <a:endParaRPr lang="es-ES" spc="-5" dirty="0"/>
          </a:p>
        </p:txBody>
      </p:sp>
      <p:sp>
        <p:nvSpPr>
          <p:cNvPr id="2" name="CuadroTexto 1">
            <a:extLst>
              <a:ext uri="{FF2B5EF4-FFF2-40B4-BE49-F238E27FC236}">
                <a16:creationId xmlns:a16="http://schemas.microsoft.com/office/drawing/2014/main" id="{82A62DD6-5488-72A1-9926-0CAEE59089A9}"/>
              </a:ext>
            </a:extLst>
          </p:cNvPr>
          <p:cNvSpPr txBox="1"/>
          <p:nvPr/>
        </p:nvSpPr>
        <p:spPr>
          <a:xfrm>
            <a:off x="609441" y="4860334"/>
            <a:ext cx="11199971" cy="1200329"/>
          </a:xfrm>
          <a:prstGeom prst="rect">
            <a:avLst/>
          </a:prstGeom>
          <a:solidFill>
            <a:schemeClr val="bg1">
              <a:lumMod val="95000"/>
            </a:schemeClr>
          </a:solidFill>
          <a:ln w="28575">
            <a:solidFill>
              <a:srgbClr val="E0700D"/>
            </a:solidFill>
          </a:ln>
        </p:spPr>
        <p:txBody>
          <a:bodyPr wrap="square" rtlCol="0">
            <a:spAutoFit/>
          </a:bodyPr>
          <a:lstStyle/>
          <a:p>
            <a:pPr algn="l">
              <a:defRPr sz="1500" b="0"/>
            </a:pPr>
            <a:r>
              <a:rPr dirty="0"/>
              <a:t>Increasing width raises modal confinement and moves the fundamental branch from </a:t>
            </a:r>
            <a:r>
              <a:rPr dirty="0" err="1"/>
              <a:t>neff</a:t>
            </a:r>
            <a:r>
              <a:rPr dirty="0"/>
              <a:t> = 1.5117 at 0.6 um to 1.6324 at 1.6 um.</a:t>
            </a:r>
          </a:p>
          <a:p>
            <a:pPr algn="l">
              <a:defRPr sz="1500" b="0"/>
            </a:pPr>
            <a:r>
              <a:rPr dirty="0"/>
              <a:t>Mode 1 is already guided at the narrowest widths, while additional branches appear around 1.2 um (mode 2) and 1.6 um (mode 3).</a:t>
            </a:r>
          </a:p>
          <a:p>
            <a:pPr algn="l">
              <a:defRPr sz="1500" b="0"/>
            </a:pPr>
            <a:r>
              <a:rPr dirty="0"/>
              <a:t>The color scale confirms the expected polarization pattern: modes 0 and 2 are TE-like, whereas modes 1 and 3 are TM-like.</a:t>
            </a:r>
          </a:p>
        </p:txBody>
      </p:sp>
      <p:sp>
        <p:nvSpPr>
          <p:cNvPr id="7" name="Rectángulo 6">
            <a:extLst>
              <a:ext uri="{FF2B5EF4-FFF2-40B4-BE49-F238E27FC236}">
                <a16:creationId xmlns:a16="http://schemas.microsoft.com/office/drawing/2014/main" id="{FBC7D187-267A-ADD4-764C-D3820B8ED302}"/>
              </a:ext>
            </a:extLst>
          </p:cNvPr>
          <p:cNvSpPr/>
          <p:nvPr/>
        </p:nvSpPr>
        <p:spPr>
          <a:xfrm>
            <a:off x="609441" y="1418373"/>
            <a:ext cx="11199971"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CuadroTexto 7">
            <a:extLst>
              <a:ext uri="{FF2B5EF4-FFF2-40B4-BE49-F238E27FC236}">
                <a16:creationId xmlns:a16="http://schemas.microsoft.com/office/drawing/2014/main" id="{1EF5BFDA-8EC1-8C73-A932-F36C4DB93C73}"/>
              </a:ext>
            </a:extLst>
          </p:cNvPr>
          <p:cNvSpPr txBox="1"/>
          <p:nvPr/>
        </p:nvSpPr>
        <p:spPr>
          <a:xfrm>
            <a:off x="2286000" y="2671278"/>
            <a:ext cx="7718580" cy="923330"/>
          </a:xfrm>
          <a:prstGeom prst="rect">
            <a:avLst/>
          </a:prstGeom>
          <a:noFill/>
        </p:spPr>
        <p:txBody>
          <a:bodyPr wrap="square" rtlCol="0">
            <a:spAutoFit/>
          </a:bodyPr>
          <a:lstStyle/>
          <a:p>
            <a:pPr algn="l">
              <a:defRPr sz="100" b="0"/>
            </a:pPr>
            <a:endParaRPr/>
          </a:p>
        </p:txBody>
      </p:sp>
      <p:pic>
        <p:nvPicPr>
          <p:cNvPr id="5" name="Imagen 4">
            <a:extLst>
              <a:ext uri="{FF2B5EF4-FFF2-40B4-BE49-F238E27FC236}">
                <a16:creationId xmlns:a16="http://schemas.microsoft.com/office/drawing/2014/main" id="{EE0875AF-2443-0475-F504-D1C2B8911A0C}"/>
              </a:ext>
            </a:extLst>
          </p:cNvPr>
          <p:cNvPicPr>
            <a:picLocks noChangeAspect="1"/>
          </p:cNvPicPr>
          <p:nvPr/>
        </p:nvPicPr>
        <p:blipFill>
          <a:blip r:embed="rId5"/>
          <a:stretch>
            <a:fillRect/>
          </a:stretch>
        </p:blipFill>
        <p:spPr>
          <a:xfrm>
            <a:off x="3409950" y="1565391"/>
            <a:ext cx="5372100" cy="3127330"/>
          </a:xfrm>
          <a:prstGeom prst="rect">
            <a:avLst/>
          </a:prstGeom>
        </p:spPr>
      </p:pic>
    </p:spTree>
    <p:extLst>
      <p:ext uri="{BB962C8B-B14F-4D97-AF65-F5344CB8AC3E}">
        <p14:creationId xmlns:p14="http://schemas.microsoft.com/office/powerpoint/2010/main" val="290011743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1DA0F9-B230-D9FC-3CE7-03BD08CF54F7}"/>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394400B4-EE16-8E85-AB54-E82FE3B29345}"/>
              </a:ext>
            </a:extLst>
          </p:cNvPr>
          <p:cNvSpPr txBox="1">
            <a:spLocks noGrp="1"/>
          </p:cNvSpPr>
          <p:nvPr>
            <p:ph type="title"/>
          </p:nvPr>
        </p:nvSpPr>
        <p:spPr>
          <a:xfrm>
            <a:off x="685800" y="408883"/>
            <a:ext cx="10994410" cy="1397819"/>
          </a:xfrm>
          <a:prstGeom prst="rect">
            <a:avLst/>
          </a:prstGeom>
        </p:spPr>
        <p:txBody>
          <a:bodyPr vert="horz" wrap="square" lIns="0" tIns="12700" rIns="0" bIns="0" rtlCol="0">
            <a:spAutoFit/>
          </a:bodyPr>
          <a:lstStyle/>
          <a:p>
            <a:pPr marL="12700">
              <a:lnSpc>
                <a:spcPct val="100000"/>
              </a:lnSpc>
              <a:spcBef>
                <a:spcPts val="100"/>
              </a:spcBef>
            </a:pPr>
            <a:r>
              <a:rPr lang="en-US" sz="2500" dirty="0"/>
              <a:t>Learning outcome #4 – Waveguide compact model</a:t>
            </a:r>
            <a:br>
              <a:rPr lang="en-US" sz="2500" spc="-5" dirty="0">
                <a:latin typeface="+mj-lt"/>
                <a:cs typeface="Lucida Sans"/>
              </a:rPr>
            </a:br>
            <a:r>
              <a:rPr lang="en-US" b="0" dirty="0"/>
              <a:t>- Find the compact models of the following waveguides: </a:t>
            </a:r>
            <a:br>
              <a:rPr lang="en-US" b="0" dirty="0"/>
            </a:br>
            <a:r>
              <a:rPr lang="en-US" dirty="0"/>
              <a:t>Deep</a:t>
            </a:r>
            <a:r>
              <a:rPr lang="en-US" b="0" dirty="0"/>
              <a:t> waveguide, h=300nm, w=1.2um   - </a:t>
            </a:r>
            <a:r>
              <a:rPr lang="en-US" dirty="0"/>
              <a:t>Shallow</a:t>
            </a:r>
            <a:r>
              <a:rPr lang="en-US" b="0" dirty="0"/>
              <a:t> waveguide, core h=300nm, slab h=150 nm, w = 1.2um </a:t>
            </a:r>
            <a:br>
              <a:rPr lang="en-US" b="0" dirty="0"/>
            </a:br>
            <a:endParaRPr lang="en-US" sz="2500" b="0" dirty="0">
              <a:latin typeface="+mj-lt"/>
              <a:cs typeface="Lucida Sans"/>
            </a:endParaRPr>
          </a:p>
        </p:txBody>
      </p:sp>
      <p:pic>
        <p:nvPicPr>
          <p:cNvPr id="83" name="Gráfico 82">
            <a:extLst>
              <a:ext uri="{FF2B5EF4-FFF2-40B4-BE49-F238E27FC236}">
                <a16:creationId xmlns:a16="http://schemas.microsoft.com/office/drawing/2014/main" id="{4D53B68D-17ED-7EFB-F2B4-10DA7A772E17}"/>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09AB8697-C1EE-6E9A-6550-ACA2C3AE6630}"/>
              </a:ext>
            </a:extLst>
          </p:cNvPr>
          <p:cNvSpPr>
            <a:spLocks noGrp="1"/>
          </p:cNvSpPr>
          <p:nvPr>
            <p:ph type="sldNum" sz="quarter" idx="7"/>
          </p:nvPr>
        </p:nvSpPr>
        <p:spPr/>
        <p:txBody>
          <a:bodyPr/>
          <a:lstStyle/>
          <a:p>
            <a:fld id="{B6F15528-21DE-4FAA-801E-634DDDAF4B2B}" type="slidenum">
              <a:rPr lang="es-ES" smtClean="0"/>
              <a:t>6</a:t>
            </a:fld>
            <a:endParaRPr lang="es-ES"/>
          </a:p>
        </p:txBody>
      </p:sp>
      <p:sp>
        <p:nvSpPr>
          <p:cNvPr id="3" name="Marcador de pie de página 2">
            <a:extLst>
              <a:ext uri="{FF2B5EF4-FFF2-40B4-BE49-F238E27FC236}">
                <a16:creationId xmlns:a16="http://schemas.microsoft.com/office/drawing/2014/main" id="{970D4A6C-5B37-EDF5-6242-74B16127E96B}"/>
              </a:ext>
            </a:extLst>
          </p:cNvPr>
          <p:cNvSpPr>
            <a:spLocks noGrp="1"/>
          </p:cNvSpPr>
          <p:nvPr>
            <p:ph type="ftr" sz="quarter" idx="5"/>
          </p:nvPr>
        </p:nvSpPr>
        <p:spPr/>
        <p:txBody>
          <a:bodyPr/>
          <a:lstStyle/>
          <a:p>
            <a:pPr marL="12700">
              <a:spcBef>
                <a:spcPts val="15"/>
              </a:spcBef>
            </a:pPr>
            <a:r>
              <a:rPr lang="es-ES" spc="-5"/>
              <a:t>LAB 1.0 WAVEGUIDES</a:t>
            </a:r>
            <a:endParaRPr lang="es-ES" spc="-5" dirty="0"/>
          </a:p>
        </p:txBody>
      </p:sp>
      <p:sp>
        <p:nvSpPr>
          <p:cNvPr id="2" name="CuadroTexto 1">
            <a:extLst>
              <a:ext uri="{FF2B5EF4-FFF2-40B4-BE49-F238E27FC236}">
                <a16:creationId xmlns:a16="http://schemas.microsoft.com/office/drawing/2014/main" id="{A440F587-93A3-E474-C0B0-883BB9DAFD85}"/>
              </a:ext>
            </a:extLst>
          </p:cNvPr>
          <p:cNvSpPr txBox="1"/>
          <p:nvPr/>
        </p:nvSpPr>
        <p:spPr>
          <a:xfrm>
            <a:off x="609441" y="4860334"/>
            <a:ext cx="11198542" cy="1015663"/>
          </a:xfrm>
          <a:prstGeom prst="rect">
            <a:avLst/>
          </a:prstGeom>
          <a:solidFill>
            <a:schemeClr val="bg1">
              <a:lumMod val="95000"/>
            </a:schemeClr>
          </a:solidFill>
          <a:ln w="28575">
            <a:solidFill>
              <a:srgbClr val="E0700D"/>
            </a:solidFill>
          </a:ln>
        </p:spPr>
        <p:txBody>
          <a:bodyPr wrap="square" rtlCol="0">
            <a:spAutoFit/>
          </a:bodyPr>
          <a:lstStyle/>
          <a:p>
            <a:pPr algn="just"/>
            <a:r>
              <a:rPr lang="en-US" sz="1500" dirty="0"/>
              <a:t>The compact model accurately describes the wavelength dependence of the fundamental TE and TM modes in both waveguides. In both structures, the effective index decreases smoothly as the wavelength increases, and the fitted curves match the simulated data well. The shallow waveguide shows slightly higher effective index values, while the deep waveguide maintains a slightly larger group index. In all cases, dispersion remains very small and negative, confirming a weak dependence on wavelength in the studied range.</a:t>
            </a:r>
            <a:endParaRPr lang="en-US" sz="1500" dirty="0">
              <a:latin typeface="Arial" panose="020B0604020202020204" pitchFamily="34" charset="0"/>
              <a:cs typeface="Arial" panose="020B0604020202020204" pitchFamily="34" charset="0"/>
            </a:endParaRPr>
          </a:p>
        </p:txBody>
      </p:sp>
      <p:sp>
        <p:nvSpPr>
          <p:cNvPr id="5" name="Rectángulo 4">
            <a:extLst>
              <a:ext uri="{FF2B5EF4-FFF2-40B4-BE49-F238E27FC236}">
                <a16:creationId xmlns:a16="http://schemas.microsoft.com/office/drawing/2014/main" id="{A6B92C76-6772-2E00-346F-532321092C04}"/>
              </a:ext>
            </a:extLst>
          </p:cNvPr>
          <p:cNvSpPr/>
          <p:nvPr/>
        </p:nvSpPr>
        <p:spPr>
          <a:xfrm>
            <a:off x="609441" y="1447800"/>
            <a:ext cx="5486559"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ángulo 5">
            <a:extLst>
              <a:ext uri="{FF2B5EF4-FFF2-40B4-BE49-F238E27FC236}">
                <a16:creationId xmlns:a16="http://schemas.microsoft.com/office/drawing/2014/main" id="{2886628E-6E58-1F7E-B6C6-432B9A228397}"/>
              </a:ext>
            </a:extLst>
          </p:cNvPr>
          <p:cNvSpPr/>
          <p:nvPr/>
        </p:nvSpPr>
        <p:spPr>
          <a:xfrm>
            <a:off x="6321424" y="1447800"/>
            <a:ext cx="5486559"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Imagen 6">
            <a:extLst>
              <a:ext uri="{FF2B5EF4-FFF2-40B4-BE49-F238E27FC236}">
                <a16:creationId xmlns:a16="http://schemas.microsoft.com/office/drawing/2014/main" id="{6E9593BF-98E8-2CED-3D08-DEF765B15A68}"/>
              </a:ext>
            </a:extLst>
          </p:cNvPr>
          <p:cNvPicPr>
            <a:picLocks noChangeAspect="1"/>
          </p:cNvPicPr>
          <p:nvPr/>
        </p:nvPicPr>
        <p:blipFill>
          <a:blip r:embed="rId5"/>
          <a:stretch>
            <a:fillRect/>
          </a:stretch>
        </p:blipFill>
        <p:spPr>
          <a:xfrm>
            <a:off x="909245" y="1509127"/>
            <a:ext cx="4709676" cy="3161362"/>
          </a:xfrm>
          <a:prstGeom prst="rect">
            <a:avLst/>
          </a:prstGeom>
        </p:spPr>
      </p:pic>
      <p:pic>
        <p:nvPicPr>
          <p:cNvPr id="11" name="Imagen 10">
            <a:extLst>
              <a:ext uri="{FF2B5EF4-FFF2-40B4-BE49-F238E27FC236}">
                <a16:creationId xmlns:a16="http://schemas.microsoft.com/office/drawing/2014/main" id="{F711D64F-3819-D75F-F28A-330A8BA6D83A}"/>
              </a:ext>
            </a:extLst>
          </p:cNvPr>
          <p:cNvPicPr>
            <a:picLocks noChangeAspect="1"/>
          </p:cNvPicPr>
          <p:nvPr/>
        </p:nvPicPr>
        <p:blipFill>
          <a:blip r:embed="rId6"/>
          <a:stretch>
            <a:fillRect/>
          </a:stretch>
        </p:blipFill>
        <p:spPr>
          <a:xfrm>
            <a:off x="7010400" y="1546745"/>
            <a:ext cx="4272355" cy="3108138"/>
          </a:xfrm>
          <a:prstGeom prst="rect">
            <a:avLst/>
          </a:prstGeom>
        </p:spPr>
      </p:pic>
    </p:spTree>
    <p:extLst>
      <p:ext uri="{BB962C8B-B14F-4D97-AF65-F5344CB8AC3E}">
        <p14:creationId xmlns:p14="http://schemas.microsoft.com/office/powerpoint/2010/main" val="23605440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434E70-43B1-3881-1771-20FB4358471D}"/>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742C31CE-19F0-B995-0997-9A2D6A879BF7}"/>
              </a:ext>
            </a:extLst>
          </p:cNvPr>
          <p:cNvSpPr txBox="1">
            <a:spLocks noGrp="1"/>
          </p:cNvSpPr>
          <p:nvPr>
            <p:ph type="title"/>
          </p:nvPr>
        </p:nvSpPr>
        <p:spPr>
          <a:xfrm>
            <a:off x="685800" y="408883"/>
            <a:ext cx="10994410" cy="1090042"/>
          </a:xfrm>
          <a:prstGeom prst="rect">
            <a:avLst/>
          </a:prstGeom>
        </p:spPr>
        <p:txBody>
          <a:bodyPr vert="horz" wrap="square" lIns="0" tIns="12700" rIns="0" bIns="0" rtlCol="0">
            <a:spAutoFit/>
          </a:bodyPr>
          <a:lstStyle/>
          <a:p>
            <a:pPr marL="12700">
              <a:lnSpc>
                <a:spcPct val="100000"/>
              </a:lnSpc>
              <a:spcBef>
                <a:spcPts val="100"/>
              </a:spcBef>
            </a:pPr>
            <a:r>
              <a:rPr lang="en-US" sz="2500" dirty="0"/>
              <a:t>Learning outcome #5 – Bend waveguide radius vs. loss – deep</a:t>
            </a:r>
            <a:br>
              <a:rPr lang="en-US" sz="2500" dirty="0"/>
            </a:br>
            <a:r>
              <a:rPr lang="en-US" b="0" dirty="0"/>
              <a:t>Find  neff_TE0 for </a:t>
            </a:r>
            <a:r>
              <a:rPr lang="en-US" b="0" dirty="0" err="1"/>
              <a:t>wvl</a:t>
            </a:r>
            <a:r>
              <a:rPr lang="en-US" b="0" dirty="0"/>
              <a:t> 1.55 µm, width 1.2 µm for R=25,50,75,100, 125,150 µm</a:t>
            </a:r>
            <a:br>
              <a:rPr lang="en-US" sz="2500" dirty="0"/>
            </a:br>
            <a:endParaRPr lang="en-US" sz="2500" b="0" dirty="0">
              <a:latin typeface="+mj-lt"/>
              <a:cs typeface="Lucida Sans"/>
            </a:endParaRPr>
          </a:p>
        </p:txBody>
      </p:sp>
      <p:pic>
        <p:nvPicPr>
          <p:cNvPr id="83" name="Gráfico 82">
            <a:extLst>
              <a:ext uri="{FF2B5EF4-FFF2-40B4-BE49-F238E27FC236}">
                <a16:creationId xmlns:a16="http://schemas.microsoft.com/office/drawing/2014/main" id="{D688A609-F3DC-EE34-C536-683E70F32EAE}"/>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B6C672C6-89D4-7E67-2B94-811D081786A7}"/>
              </a:ext>
            </a:extLst>
          </p:cNvPr>
          <p:cNvSpPr>
            <a:spLocks noGrp="1"/>
          </p:cNvSpPr>
          <p:nvPr>
            <p:ph type="sldNum" sz="quarter" idx="7"/>
          </p:nvPr>
        </p:nvSpPr>
        <p:spPr/>
        <p:txBody>
          <a:bodyPr/>
          <a:lstStyle/>
          <a:p>
            <a:fld id="{B6F15528-21DE-4FAA-801E-634DDDAF4B2B}" type="slidenum">
              <a:rPr lang="es-ES" smtClean="0"/>
              <a:t>7</a:t>
            </a:fld>
            <a:endParaRPr lang="es-ES"/>
          </a:p>
        </p:txBody>
      </p:sp>
      <p:sp>
        <p:nvSpPr>
          <p:cNvPr id="3" name="Marcador de pie de página 2">
            <a:extLst>
              <a:ext uri="{FF2B5EF4-FFF2-40B4-BE49-F238E27FC236}">
                <a16:creationId xmlns:a16="http://schemas.microsoft.com/office/drawing/2014/main" id="{AA1F4313-D710-7A3E-7A8F-EB77DEE3C1A7}"/>
              </a:ext>
            </a:extLst>
          </p:cNvPr>
          <p:cNvSpPr>
            <a:spLocks noGrp="1"/>
          </p:cNvSpPr>
          <p:nvPr>
            <p:ph type="ftr" sz="quarter" idx="5"/>
          </p:nvPr>
        </p:nvSpPr>
        <p:spPr/>
        <p:txBody>
          <a:bodyPr/>
          <a:lstStyle/>
          <a:p>
            <a:pPr marL="12700">
              <a:spcBef>
                <a:spcPts val="15"/>
              </a:spcBef>
            </a:pPr>
            <a:r>
              <a:rPr lang="es-ES" spc="-5"/>
              <a:t>LAB 1.0 WAVEGUIDES</a:t>
            </a:r>
            <a:endParaRPr lang="es-ES" spc="-5" dirty="0"/>
          </a:p>
        </p:txBody>
      </p:sp>
      <p:sp>
        <p:nvSpPr>
          <p:cNvPr id="2" name="CuadroTexto 1">
            <a:extLst>
              <a:ext uri="{FF2B5EF4-FFF2-40B4-BE49-F238E27FC236}">
                <a16:creationId xmlns:a16="http://schemas.microsoft.com/office/drawing/2014/main" id="{FDE3A197-9508-F9F1-1FEB-FF883D78C151}"/>
              </a:ext>
            </a:extLst>
          </p:cNvPr>
          <p:cNvSpPr txBox="1"/>
          <p:nvPr/>
        </p:nvSpPr>
        <p:spPr>
          <a:xfrm>
            <a:off x="609441" y="4860334"/>
            <a:ext cx="11199971" cy="1015663"/>
          </a:xfrm>
          <a:prstGeom prst="rect">
            <a:avLst/>
          </a:prstGeom>
          <a:solidFill>
            <a:schemeClr val="bg1">
              <a:lumMod val="95000"/>
            </a:schemeClr>
          </a:solidFill>
          <a:ln w="28575">
            <a:solidFill>
              <a:srgbClr val="E0700D"/>
            </a:solidFill>
          </a:ln>
        </p:spPr>
        <p:txBody>
          <a:bodyPr wrap="square" rtlCol="0">
            <a:spAutoFit/>
          </a:bodyPr>
          <a:lstStyle/>
          <a:p>
            <a:pPr algn="l">
              <a:defRPr sz="1500" b="0"/>
            </a:pPr>
            <a:r>
              <a:rPr dirty="0"/>
              <a:t>Mode-mismatch dominates the smallest radius and pushes the 25 um bend above the 0.1 dB/90 deg target.</a:t>
            </a:r>
          </a:p>
          <a:p>
            <a:pPr algn="l">
              <a:defRPr sz="1500" b="0"/>
            </a:pPr>
            <a:r>
              <a:rPr dirty="0"/>
              <a:t>The first simulated safe radius is 50 um, with a total loss of 0.04</a:t>
            </a:r>
            <a:r>
              <a:rPr lang="es-ES" dirty="0"/>
              <a:t>19</a:t>
            </a:r>
            <a:r>
              <a:rPr dirty="0"/>
              <a:t> dB/90 deg.</a:t>
            </a:r>
          </a:p>
          <a:p>
            <a:pPr algn="l">
              <a:defRPr sz="1500" b="0"/>
            </a:pPr>
            <a:r>
              <a:rPr dirty="0"/>
              <a:t>The minimum loss in the sweep appears around 75-100 um, where total loss stays near 0.033-0.034 dB/90 deg and neff_TE0 is almost constant.</a:t>
            </a:r>
          </a:p>
        </p:txBody>
      </p:sp>
      <p:sp>
        <p:nvSpPr>
          <p:cNvPr id="7" name="Rectángulo 6">
            <a:extLst>
              <a:ext uri="{FF2B5EF4-FFF2-40B4-BE49-F238E27FC236}">
                <a16:creationId xmlns:a16="http://schemas.microsoft.com/office/drawing/2014/main" id="{B5FE8755-B0BF-14B7-64E6-4BBB2560B9A6}"/>
              </a:ext>
            </a:extLst>
          </p:cNvPr>
          <p:cNvSpPr/>
          <p:nvPr/>
        </p:nvSpPr>
        <p:spPr>
          <a:xfrm>
            <a:off x="609441" y="1418373"/>
            <a:ext cx="11199971"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CuadroTexto 7">
            <a:extLst>
              <a:ext uri="{FF2B5EF4-FFF2-40B4-BE49-F238E27FC236}">
                <a16:creationId xmlns:a16="http://schemas.microsoft.com/office/drawing/2014/main" id="{331EBD86-BA6C-68C9-2D38-FC8CFBA7ADC4}"/>
              </a:ext>
            </a:extLst>
          </p:cNvPr>
          <p:cNvSpPr txBox="1"/>
          <p:nvPr/>
        </p:nvSpPr>
        <p:spPr>
          <a:xfrm>
            <a:off x="2978141" y="2784355"/>
            <a:ext cx="6235717" cy="923330"/>
          </a:xfrm>
          <a:prstGeom prst="rect">
            <a:avLst/>
          </a:prstGeom>
          <a:noFill/>
        </p:spPr>
        <p:txBody>
          <a:bodyPr wrap="square" rtlCol="0">
            <a:spAutoFit/>
          </a:bodyPr>
          <a:lstStyle/>
          <a:p>
            <a:pPr algn="l">
              <a:defRPr sz="100" b="0"/>
            </a:pPr>
            <a:endParaRPr/>
          </a:p>
        </p:txBody>
      </p:sp>
      <p:pic>
        <p:nvPicPr>
          <p:cNvPr id="5" name="Imagen 4">
            <a:extLst>
              <a:ext uri="{FF2B5EF4-FFF2-40B4-BE49-F238E27FC236}">
                <a16:creationId xmlns:a16="http://schemas.microsoft.com/office/drawing/2014/main" id="{96254EA2-F703-95CD-B90B-D7F35583944F}"/>
              </a:ext>
            </a:extLst>
          </p:cNvPr>
          <p:cNvPicPr>
            <a:picLocks noChangeAspect="1"/>
          </p:cNvPicPr>
          <p:nvPr/>
        </p:nvPicPr>
        <p:blipFill>
          <a:blip r:embed="rId5"/>
          <a:stretch>
            <a:fillRect/>
          </a:stretch>
        </p:blipFill>
        <p:spPr>
          <a:xfrm>
            <a:off x="1359692" y="1549441"/>
            <a:ext cx="9472613" cy="3107081"/>
          </a:xfrm>
          <a:prstGeom prst="rect">
            <a:avLst/>
          </a:prstGeom>
        </p:spPr>
      </p:pic>
    </p:spTree>
    <p:extLst>
      <p:ext uri="{BB962C8B-B14F-4D97-AF65-F5344CB8AC3E}">
        <p14:creationId xmlns:p14="http://schemas.microsoft.com/office/powerpoint/2010/main" val="366043824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p:nvPr/>
        </p:nvSpPr>
        <p:spPr>
          <a:xfrm>
            <a:off x="3945635" y="2636520"/>
            <a:ext cx="8246363" cy="1584959"/>
          </a:xfrm>
          <a:prstGeom prst="rect">
            <a:avLst/>
          </a:prstGeom>
          <a:blipFill>
            <a:blip r:embed="rId2" cstate="print"/>
            <a:stretch>
              <a:fillRect/>
            </a:stretch>
          </a:blipFill>
        </p:spPr>
        <p:txBody>
          <a:bodyPr wrap="square" lIns="0" tIns="0" rIns="0" bIns="0" rtlCol="0"/>
          <a:lstStyle/>
          <a:p>
            <a:endParaRPr/>
          </a:p>
        </p:txBody>
      </p:sp>
      <p:sp>
        <p:nvSpPr>
          <p:cNvPr id="4" name="object 4"/>
          <p:cNvSpPr txBox="1">
            <a:spLocks noGrp="1"/>
          </p:cNvSpPr>
          <p:nvPr>
            <p:ph type="title"/>
          </p:nvPr>
        </p:nvSpPr>
        <p:spPr>
          <a:xfrm>
            <a:off x="4513326" y="3165729"/>
            <a:ext cx="2233295" cy="513715"/>
          </a:xfrm>
          <a:prstGeom prst="rect">
            <a:avLst/>
          </a:prstGeom>
        </p:spPr>
        <p:txBody>
          <a:bodyPr vert="horz" wrap="square" lIns="0" tIns="13335" rIns="0" bIns="0" rtlCol="0">
            <a:spAutoFit/>
          </a:bodyPr>
          <a:lstStyle/>
          <a:p>
            <a:pPr marL="12700">
              <a:lnSpc>
                <a:spcPct val="100000"/>
              </a:lnSpc>
              <a:spcBef>
                <a:spcPts val="105"/>
              </a:spcBef>
            </a:pPr>
            <a:r>
              <a:rPr sz="3200" b="1" spc="-5" dirty="0">
                <a:solidFill>
                  <a:srgbClr val="FFFFFF"/>
                </a:solidFill>
                <a:latin typeface="Lucida Sans"/>
                <a:cs typeface="Lucida Sans"/>
              </a:rPr>
              <a:t>Thank</a:t>
            </a:r>
            <a:r>
              <a:rPr sz="3200" b="1" spc="-55" dirty="0">
                <a:solidFill>
                  <a:srgbClr val="FFFFFF"/>
                </a:solidFill>
                <a:latin typeface="Lucida Sans"/>
                <a:cs typeface="Lucida Sans"/>
              </a:rPr>
              <a:t> </a:t>
            </a:r>
            <a:r>
              <a:rPr sz="3200" b="1" dirty="0">
                <a:solidFill>
                  <a:srgbClr val="FFFFFF"/>
                </a:solidFill>
                <a:latin typeface="Lucida Sans"/>
                <a:cs typeface="Lucida Sans"/>
              </a:rPr>
              <a:t>you</a:t>
            </a:r>
            <a:endParaRPr sz="3200">
              <a:latin typeface="Lucida Sans"/>
              <a:cs typeface="Lucida Sans"/>
            </a:endParaRPr>
          </a:p>
        </p:txBody>
      </p:sp>
      <p:sp>
        <p:nvSpPr>
          <p:cNvPr id="5" name="Marcador de número de diapositiva 4">
            <a:extLst>
              <a:ext uri="{FF2B5EF4-FFF2-40B4-BE49-F238E27FC236}">
                <a16:creationId xmlns:a16="http://schemas.microsoft.com/office/drawing/2014/main" id="{B052DA19-AD24-7D24-2AE9-51F8F5A7F5E0}"/>
              </a:ext>
            </a:extLst>
          </p:cNvPr>
          <p:cNvSpPr>
            <a:spLocks noGrp="1"/>
          </p:cNvSpPr>
          <p:nvPr>
            <p:ph type="sldNum" sz="quarter" idx="7"/>
          </p:nvPr>
        </p:nvSpPr>
        <p:spPr/>
        <p:txBody>
          <a:bodyPr/>
          <a:lstStyle/>
          <a:p>
            <a:fld id="{B6F15528-21DE-4FAA-801E-634DDDAF4B2B}" type="slidenum">
              <a:rPr lang="es-ES" smtClean="0"/>
              <a:t>8</a:t>
            </a:fld>
            <a:endParaRPr lang="es-E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00"/>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1079</TotalTime>
  <Words>642</Words>
  <Application>Microsoft Office PowerPoint</Application>
  <PresentationFormat>Panorámica</PresentationFormat>
  <Paragraphs>71</Paragraphs>
  <Slides>8</Slides>
  <Notes>5</Notes>
  <HiddenSlides>0</HiddenSlides>
  <MMClips>0</MMClips>
  <ScaleCrop>false</ScaleCrop>
  <HeadingPairs>
    <vt:vector size="6" baseType="variant">
      <vt:variant>
        <vt:lpstr>Fuentes usadas</vt:lpstr>
      </vt:variant>
      <vt:variant>
        <vt:i4>6</vt:i4>
      </vt:variant>
      <vt:variant>
        <vt:lpstr>Tema</vt:lpstr>
      </vt:variant>
      <vt:variant>
        <vt:i4>1</vt:i4>
      </vt:variant>
      <vt:variant>
        <vt:lpstr>Títulos de diapositiva</vt:lpstr>
      </vt:variant>
      <vt:variant>
        <vt:i4>8</vt:i4>
      </vt:variant>
    </vt:vector>
  </HeadingPairs>
  <TitlesOfParts>
    <vt:vector size="15" baseType="lpstr">
      <vt:lpstr>Aptos</vt:lpstr>
      <vt:lpstr>Arial</vt:lpstr>
      <vt:lpstr>Calibri</vt:lpstr>
      <vt:lpstr>Lucida Sans</vt:lpstr>
      <vt:lpstr>Times New Roman</vt:lpstr>
      <vt:lpstr>Wingdings</vt:lpstr>
      <vt:lpstr>Office Theme</vt:lpstr>
      <vt:lpstr>Presentación de PowerPoint</vt:lpstr>
      <vt:lpstr>Instructions General</vt:lpstr>
      <vt:lpstr>Learning outcome #1 – Effective index of a waveguide </vt:lpstr>
      <vt:lpstr>Learning outcome #2 – Wavelength behavior Wavelength 1.5-1.6 µm (step 0.01 µm) – width 1.2 µm</vt:lpstr>
      <vt:lpstr>Learning outcome #3 – Width dependence Width 0.6 - 1.6 µm (step 0.1 µm) – Wavelength 1.55 µm </vt:lpstr>
      <vt:lpstr>Learning outcome #4 – Waveguide compact model - Find the compact models of the following waveguides:  Deep waveguide, h=300nm, w=1.2um   - Shallow waveguide, core h=300nm, slab h=150 nm, w = 1.2um  </vt:lpstr>
      <vt:lpstr>Learning outcome #5 – Bend waveguide radius vs. loss – deep Find  neff_TE0 for wvl 1.55 µm, width 1.2 µm for R=25,50,75,100, 125,150 µm </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Mª Ester Calataytud</dc:creator>
  <cp:lastModifiedBy>Marco Ibañez Veliz</cp:lastModifiedBy>
  <cp:revision>12</cp:revision>
  <dcterms:created xsi:type="dcterms:W3CDTF">2025-01-27T02:46:57Z</dcterms:created>
  <dcterms:modified xsi:type="dcterms:W3CDTF">2026-03-15T18:38:20Z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2024-09-16T00:00:00Z</vt:filetime>
  </property>
  <property fmtid="{D5CDD505-2E9C-101B-9397-08002B2CF9AE}" pid="3" name="Creator">
    <vt:lpwstr>Microsoft® PowerPoint® 2016</vt:lpwstr>
  </property>
  <property fmtid="{D5CDD505-2E9C-101B-9397-08002B2CF9AE}" pid="4" name="LastSaved">
    <vt:filetime>2025-01-27T00:00:00Z</vt:filetime>
  </property>
</Properties>
</file>